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332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F0F4F8"/>
                </a:solidFill>
                <a:latin typeface="Microsoft YaHei"/>
              </a:rPr>
              <a:t>小游戏通用智能体自主通关系统</a:t>
            </a:r>
          </a:p>
          <a:p>
            <a:pPr>
              <a:spcBef>
                <a:spcPts val="800"/>
              </a:spcBef>
            </a:pPr>
            <a:r>
              <a:rPr sz="1900">
                <a:solidFill>
                  <a:srgbClr val="00E5FF"/>
                </a:solidFill>
                <a:latin typeface="Microsoft YaHei"/>
              </a:rPr>
              <a:t>smallgameagent 与 vision-game-agent 综合技术与实验汇报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3566160"/>
            <a:ext cx="10332720" cy="1645920"/>
          </a:xfrm>
          <a:prstGeom prst="roundRect">
            <a:avLst/>
          </a:prstGeom>
          <a:solidFill>
            <a:srgbClr val="131F3E"/>
          </a:solidFill>
          <a:ln w="12700">
            <a:solidFill>
              <a:srgbClr val="243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28016"/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FFC107"/>
                </a:solidFill>
                <a:latin typeface="Microsoft YaHei"/>
              </a:rPr>
              <a:t>核心突破总览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•  解决空间/时间一致性、长程经济优化与实时效率四大难题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•  从探针规则三层架构成功跃迁至纯视觉 ReAct 框架，实现零先验跨游戏通用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•  在多款 Kingshot 与 Whiteout Survival 游戏中完全通关，以 11 步击溃传统 GAH 框架（240步预算耗尽）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•  沉淀 1019 条专家级多模态轨迹数据集，就绪 4×RTX 5090 集群 QLoRA 微调管线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760720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>
                <a:solidFill>
                  <a:srgbClr val="90A4AE"/>
                </a:solidFill>
              </a:rPr>
              <a:t>DeepMind / Advanced Agentic Coding 课题合作组 · 2026年8月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0E5FF"/>
                </a:solidFill>
                <a:latin typeface="Segoe UI"/>
              </a:rPr>
              <a:t>SMALLGAMEAGENT &amp; VISION-AGENT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0F4F8"/>
                </a:solidFill>
                <a:latin typeface="Microsoft YaHei"/>
              </a:rPr>
              <a:t>系统演进全景：从探针规则到纯视觉通关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78992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90A4AE"/>
                </a:solidFill>
                <a:latin typeface="Microsoft YaHei"/>
              </a:rPr>
              <a:t>经历三个阶段的持续演化，最终在泛化性与通关效率上取得决定性突破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89888"/>
            <a:ext cx="1645920" cy="3175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3474720" cy="4389120"/>
          </a:xfrm>
          <a:prstGeom prst="roundRect">
            <a:avLst/>
          </a:prstGeom>
          <a:solidFill>
            <a:srgbClr val="131F3E"/>
          </a:solidFill>
          <a:ln w="12700">
            <a:solidFill>
              <a:srgbClr val="243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28016"/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90A4AE"/>
                </a:solidFill>
                <a:latin typeface="Microsoft YaHei"/>
              </a:rPr>
              <a:t>阶段 1：探针与规则期 (SmallGameAgent)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•  定位：Cocos 内部节点解析 + 规则驱动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•  感知：CDP 注入 JS 探针读取节点树/内存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•  决策：潜在场避障 (Potential Field) + 状态机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•  瓶颈：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    · 节点混淆与私有数据结构难以通用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    · 遇到新关卡/新玩法需大量逆向成本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    · 容易在动态生成的障碍物前卡死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645920"/>
            <a:ext cx="3474720" cy="4389120"/>
          </a:xfrm>
          <a:prstGeom prst="roundRect">
            <a:avLst/>
          </a:prstGeom>
          <a:solidFill>
            <a:srgbClr val="131F3E"/>
          </a:solidFill>
          <a:ln w="12700">
            <a:solidFill>
              <a:srgbClr val="243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28016"/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00E5FF"/>
                </a:solidFill>
                <a:latin typeface="Microsoft YaHei"/>
              </a:rPr>
              <a:t>阶段 2：分层混合与融合期 (Fusion-Harness)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•  定位：L0 规则 + L1 本地 VLM + L2 云端规划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•  融合：吸纳 GAH 确定性审批链与跨 Run 记忆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•  优势：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    · 兼具毫秒级动作响应与十秒级大局规划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    · 解决跨 Session 记忆污染与时间冲突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•  瓶颈：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    · 仍部分依赖底层探针数据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    · 云端大模型直出动作容易产生语法截断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45920"/>
            <a:ext cx="3474720" cy="4389120"/>
          </a:xfrm>
          <a:prstGeom prst="roundRect">
            <a:avLst/>
          </a:prstGeom>
          <a:solidFill>
            <a:srgbClr val="1C2C54"/>
          </a:solidFill>
          <a:ln w="12700">
            <a:solidFill>
              <a:srgbClr val="243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28016"/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00E676"/>
                </a:solidFill>
                <a:latin typeface="Microsoft YaHei"/>
              </a:rPr>
              <a:t>阶段 3：端到端纯视觉期 (VisionGameAgent)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•  定位：纯屏幕截图输入 + 规范化触摸输出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•  突破：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    · 零先验即插即用，彻底告别私有探针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    · 引入 Hold 摇杆长按，移动效率质变 300%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    · 注入塔防/建造/障碍物/复活等领域知识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•  战果：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    · 3 款高难游戏完全自主通关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    · 33efef78 仅 11 步通关，大幅超越 GAH (240步)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0E5FF"/>
                </a:solidFill>
                <a:latin typeface="Segoe UI"/>
              </a:rPr>
              <a:t>SMALLGAMEAGENT &amp; VISION-AGENT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0F4F8"/>
                </a:solidFill>
                <a:latin typeface="Microsoft YaHei"/>
              </a:rPr>
              <a:t>合作痛点剖析与四大核心技术解法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78992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90A4AE"/>
                </a:solidFill>
                <a:latin typeface="Microsoft YaHei"/>
              </a:rPr>
              <a:t>直击空间一致性、时间一致性、策略探索优化与实时效率治理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89888"/>
            <a:ext cx="1645920" cy="3175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303520" cy="2194560"/>
          </a:xfrm>
          <a:prstGeom prst="roundRect">
            <a:avLst/>
          </a:prstGeom>
          <a:solidFill>
            <a:srgbClr val="131F3E"/>
          </a:solidFill>
          <a:ln w="12700">
            <a:solidFill>
              <a:srgbClr val="243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28016"/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00E5FF"/>
                </a:solidFill>
                <a:latin typeface="Microsoft YaHei"/>
              </a:rPr>
              <a:t>① 空间一致性：动态障碍物与范式迁移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•  痛点：场景演化引入新建筑/墙体，模型记忆旧地图撞墙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•  解法：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    · 像素差分卡死检测：连续 3 步移动无位移触发【障碍物警告】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    · 自动交互识别：感知自动渔网/传送带后屏蔽手工采集动作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303520" cy="2194560"/>
          </a:xfrm>
          <a:prstGeom prst="roundRect">
            <a:avLst/>
          </a:prstGeom>
          <a:solidFill>
            <a:srgbClr val="131F3E"/>
          </a:solidFill>
          <a:ln w="12700">
            <a:solidFill>
              <a:srgbClr val="243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28016"/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FFC107"/>
                </a:solidFill>
                <a:latin typeface="Microsoft YaHei"/>
              </a:rPr>
              <a:t>② 时间一致性：长程目标与记忆隔离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•  痛点：步数膨胀后策略颠簸覆盖（Policy Overwrite）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•  解法：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    · 阶段契约 (Phase Contract)：前置/后置条件门控状态跃迁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    · 读写隔离：仅归档通关的冠军策略胶囊 (Capsule)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    · 纯视觉轻量滑动窗口 (6步) + 动作 JSON 防回声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114800"/>
            <a:ext cx="5303520" cy="2194560"/>
          </a:xfrm>
          <a:prstGeom prst="roundRect">
            <a:avLst/>
          </a:prstGeom>
          <a:solidFill>
            <a:srgbClr val="131F3E"/>
          </a:solidFill>
          <a:ln w="12700">
            <a:solidFill>
              <a:srgbClr val="243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28016"/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00E676"/>
                </a:solidFill>
                <a:latin typeface="Microsoft YaHei"/>
              </a:rPr>
              <a:t>③ 策略优化探索：避免贪心与环境约束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•  痛点：按部就班“有钱即升”，缺乏攒钱升本意识；严寒下冻死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•  解法：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    · 全局经济 Prompt 引导：明确“虚线框是塔防核心，攒钱升级”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    · 借鉴 Verifiers-v1 强化学习范式：关键生存指标闭环反思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    · 严苛限制建模：维持发电机运转作为一票否决级硬约束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4114800"/>
            <a:ext cx="5303520" cy="2194560"/>
          </a:xfrm>
          <a:prstGeom prst="roundRect">
            <a:avLst/>
          </a:prstGeom>
          <a:solidFill>
            <a:srgbClr val="131F3E"/>
          </a:solidFill>
          <a:ln w="12700">
            <a:solidFill>
              <a:srgbClr val="243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28016"/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FF5252"/>
                </a:solidFill>
                <a:latin typeface="Microsoft YaHei"/>
              </a:rPr>
              <a:t>④ 实时交互效率：动态过滤与低延迟交互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•  痛点：探针全遍历太慢，云端大模型 API 单步 30s 易超时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•  解法：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    · 动态探针：仅提取带碰撞体与着色器的关键活动节点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    · JPEG 动态压缩：截图限制 960px，Token 消耗骤降 70%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    · Refine Tap：局部裁剪放大二次推理，精准修正微小点击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0E5FF"/>
                </a:solidFill>
                <a:latin typeface="Segoe UI"/>
              </a:rPr>
              <a:t>SMALLGAMEAGENT &amp; VISION-AGENT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0F4F8"/>
                </a:solidFill>
                <a:latin typeface="Microsoft YaHei"/>
              </a:rPr>
              <a:t>三层混合架构：兼顾毫秒级响应与长程战略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78992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90A4AE"/>
                </a:solidFill>
                <a:latin typeface="Microsoft YaHei"/>
              </a:rPr>
              <a:t>L0 确定性执行 + L1 本地轻量 VLM 战术理解 + L2 云端强推理长程规划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89888"/>
            <a:ext cx="1645920" cy="3175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45920"/>
          <a:ext cx="110642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926080"/>
                <a:gridCol w="1645920"/>
                <a:gridCol w="1280160"/>
                <a:gridCol w="3383280"/>
              </a:tblGrid>
              <a:tr h="571500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00E5FF"/>
                          </a:solidFill>
                          <a:latin typeface="Microsoft YaHei"/>
                        </a:rPr>
                        <a:t>层级</a:t>
                      </a:r>
                    </a:p>
                  </a:txBody>
                  <a:tcPr>
                    <a:solidFill>
                      <a:srgbClr val="1B2A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00E5FF"/>
                          </a:solidFill>
                          <a:latin typeface="Microsoft YaHei"/>
                        </a:rPr>
                        <a:t>运行实体与模型</a:t>
                      </a:r>
                    </a:p>
                  </a:txBody>
                  <a:tcPr>
                    <a:solidFill>
                      <a:srgbClr val="1B2A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00E5FF"/>
                          </a:solidFill>
                          <a:latin typeface="Microsoft YaHei"/>
                        </a:rPr>
                        <a:t>执行频率</a:t>
                      </a:r>
                    </a:p>
                  </a:txBody>
                  <a:tcPr>
                    <a:solidFill>
                      <a:srgbClr val="1B2A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00E5FF"/>
                          </a:solidFill>
                          <a:latin typeface="Microsoft YaHei"/>
                        </a:rPr>
                        <a:t>延迟预算</a:t>
                      </a:r>
                    </a:p>
                  </a:txBody>
                  <a:tcPr>
                    <a:solidFill>
                      <a:srgbClr val="1B2A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00E5FF"/>
                          </a:solidFill>
                          <a:latin typeface="Microsoft YaHei"/>
                        </a:rPr>
                        <a:t>核心职责与上下行数据流</a:t>
                      </a:r>
                    </a:p>
                  </a:txBody>
                  <a:tcPr>
                    <a:solidFill>
                      <a:srgbClr val="1B2A4D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0F4F8"/>
                          </a:solidFill>
                          <a:latin typeface="Microsoft YaHei"/>
                        </a:rPr>
                        <a:t>L0 确定性执行层</a:t>
                      </a:r>
                    </a:p>
                  </a:txBody>
                  <a:tcPr>
                    <a:solidFill>
                      <a:srgbClr val="131F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0F4F8"/>
                          </a:solidFill>
                          <a:latin typeface="Microsoft YaHei"/>
                        </a:rPr>
                        <a:t>Rule Engine + CDP 触摸事件网关</a:t>
                      </a:r>
                    </a:p>
                  </a:txBody>
                  <a:tcPr>
                    <a:solidFill>
                      <a:srgbClr val="131F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0F4F8"/>
                          </a:solidFill>
                          <a:latin typeface="Microsoft YaHei"/>
                        </a:rPr>
                        <a:t>逐帧 / 每步</a:t>
                      </a:r>
                    </a:p>
                  </a:txBody>
                  <a:tcPr>
                    <a:solidFill>
                      <a:srgbClr val="131F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0F4F8"/>
                          </a:solidFill>
                          <a:latin typeface="Microsoft YaHei"/>
                        </a:rPr>
                        <a:t>&lt; 10 ms</a:t>
                      </a:r>
                    </a:p>
                  </a:txBody>
                  <a:tcPr>
                    <a:solidFill>
                      <a:srgbClr val="131F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0F4F8"/>
                          </a:solidFill>
                          <a:latin typeface="Microsoft YaHei"/>
                        </a:rPr>
                        <a:t>接收 L1/L2 目标，执行平滑移动、安全边界碰撞拦截与原生手势</a:t>
                      </a:r>
                    </a:p>
                  </a:txBody>
                  <a:tcPr>
                    <a:solidFill>
                      <a:srgbClr val="131F3E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0F4F8"/>
                          </a:solidFill>
                          <a:latin typeface="Microsoft YaHei"/>
                        </a:rPr>
                        <a:t>L1 战术理解层</a:t>
                      </a:r>
                    </a:p>
                  </a:txBody>
                  <a:tcPr>
                    <a:solidFill>
                      <a:srgbClr val="0E17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0F4F8"/>
                          </a:solidFill>
                          <a:latin typeface="Microsoft YaHei"/>
                        </a:rPr>
                        <a:t>本地轻量 VLM (Qwen3.5-4B / 5090 Qwen27B)</a:t>
                      </a:r>
                    </a:p>
                  </a:txBody>
                  <a:tcPr>
                    <a:solidFill>
                      <a:srgbClr val="0E17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F5252"/>
                          </a:solidFill>
                          <a:latin typeface="Microsoft YaHei"/>
                        </a:rPr>
                        <a:t>每 3-5 步 或卡死时</a:t>
                      </a:r>
                    </a:p>
                  </a:txBody>
                  <a:tcPr>
                    <a:solidFill>
                      <a:srgbClr val="0E17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0F4F8"/>
                          </a:solidFill>
                          <a:latin typeface="Microsoft YaHei"/>
                        </a:rPr>
                        <a:t>~ 2-5 s</a:t>
                      </a:r>
                    </a:p>
                  </a:txBody>
                  <a:tcPr>
                    <a:solidFill>
                      <a:srgbClr val="0E17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0F4F8"/>
                          </a:solidFill>
                          <a:latin typeface="Microsoft YaHei"/>
                        </a:rPr>
                        <a:t>观察画面输出 Scene Context，识别当前引导箭头、建筑虚线框与点击微调</a:t>
                      </a:r>
                    </a:p>
                  </a:txBody>
                  <a:tcPr>
                    <a:solidFill>
                      <a:srgbClr val="0E1730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0F4F8"/>
                          </a:solidFill>
                          <a:latin typeface="Microsoft YaHei"/>
                        </a:rPr>
                        <a:t>L2 战略仲裁层</a:t>
                      </a:r>
                    </a:p>
                  </a:txBody>
                  <a:tcPr>
                    <a:solidFill>
                      <a:srgbClr val="131F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0F4F8"/>
                          </a:solidFill>
                          <a:latin typeface="Microsoft YaHei"/>
                        </a:rPr>
                        <a:t>云端强推理大模型 (Kimi-k2.6 / DeepSeek / MiMo)</a:t>
                      </a:r>
                    </a:p>
                  </a:txBody>
                  <a:tcPr>
                    <a:solidFill>
                      <a:srgbClr val="131F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0F4F8"/>
                          </a:solidFill>
                          <a:latin typeface="Microsoft YaHei"/>
                        </a:rPr>
                        <a:t>每 15-20 步 或阶段切换</a:t>
                      </a:r>
                    </a:p>
                  </a:txBody>
                  <a:tcPr>
                    <a:solidFill>
                      <a:srgbClr val="131F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0F4F8"/>
                          </a:solidFill>
                          <a:latin typeface="Microsoft YaHei"/>
                        </a:rPr>
                        <a:t>~ 15-30 s</a:t>
                      </a:r>
                    </a:p>
                  </a:txBody>
                  <a:tcPr>
                    <a:solidFill>
                      <a:srgbClr val="131F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0F4F8"/>
                          </a:solidFill>
                          <a:latin typeface="Microsoft YaHei"/>
                        </a:rPr>
                        <a:t>长程资源调度、宏观经济规划、阶段契约裁决与 runtime_rules.json 热更新</a:t>
                      </a:r>
                    </a:p>
                  </a:txBody>
                  <a:tcPr>
                    <a:solidFill>
                      <a:srgbClr val="131F3E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4297680"/>
            <a:ext cx="5303520" cy="2011680"/>
          </a:xfrm>
          <a:prstGeom prst="roundRect">
            <a:avLst/>
          </a:prstGeom>
          <a:solidFill>
            <a:srgbClr val="131F3E"/>
          </a:solidFill>
          <a:ln w="12700">
            <a:solidFill>
              <a:srgbClr val="243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28016"/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00E5FF"/>
                </a:solidFill>
                <a:latin typeface="Microsoft YaHei"/>
              </a:rPr>
              <a:t>为什么必须保留底层规则 (L0)？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•  确定性与安全性：高危边界拦截，绝不允许随意点出广告页面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•  零时延平滑运动：摇杆拖动需要 60fps 连续事件派发，大模型无法逐帧推理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•  防幻觉执行底座：确保上层语义指令被百分之百忠实地转化为物理触摸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4297680"/>
            <a:ext cx="5303520" cy="2011680"/>
          </a:xfrm>
          <a:prstGeom prst="roundRect">
            <a:avLst/>
          </a:prstGeom>
          <a:solidFill>
            <a:srgbClr val="131F3E"/>
          </a:solidFill>
          <a:ln w="12700">
            <a:solidFill>
              <a:srgbClr val="243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28016"/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FFC107"/>
                </a:solidFill>
                <a:latin typeface="Microsoft YaHei"/>
              </a:rPr>
              <a:t>本地 VLM 与云端 API 的精妙分工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•  本地小尺寸 VLM：作为常驻视觉解析器，提取高维结构化画面信息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•  云端大模型：无需每步传输高昂的原始大图，直接阅读精简的视觉摘要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•  混合效果：大幅降低网络带宽与 Token 成本，响应提速 300%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0E5FF"/>
                </a:solidFill>
                <a:latin typeface="Segoe UI"/>
              </a:rPr>
              <a:t>SMALLGAMEAGENT &amp; VISION-AGENT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0F4F8"/>
                </a:solidFill>
                <a:latin typeface="Microsoft YaHei"/>
              </a:rPr>
              <a:t>规则热更新机制：让大模型安全进化底层行为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78992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90A4AE"/>
                </a:solidFill>
                <a:latin typeface="Microsoft YaHei"/>
              </a:rPr>
              <a:t>三级安全演化阶梯：参数热更 → 策略插拔 → 沙箱代码热补丁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89888"/>
            <a:ext cx="1645920" cy="3175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3474720" cy="4389120"/>
          </a:xfrm>
          <a:prstGeom prst="roundRect">
            <a:avLst/>
          </a:prstGeom>
          <a:solidFill>
            <a:srgbClr val="131F3E"/>
          </a:solidFill>
          <a:ln w="12700">
            <a:solidFill>
              <a:srgbClr val="243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28016"/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FF5252"/>
                </a:solidFill>
                <a:latin typeface="Microsoft YaHei"/>
              </a:rPr>
              <a:t>1. 智能触发条件 (Trigger Thresholds)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•  物理卡死触发：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    · 连续 3 步画面像素变动 &lt; 5%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    · 坐标在局部区域来回震荡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•  经济停滞触发：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    · 连续 15 步金币/资源未增长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    · 储蓄达成但未触发建造升级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•  阶段剧变触发：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    · 画面检测到 Boss 登场/大门开启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    · 防御阵线遭到突破危机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645920"/>
            <a:ext cx="3474720" cy="4389120"/>
          </a:xfrm>
          <a:prstGeom prst="roundRect">
            <a:avLst/>
          </a:prstGeom>
          <a:solidFill>
            <a:srgbClr val="131F3E"/>
          </a:solidFill>
          <a:ln w="12700">
            <a:solidFill>
              <a:srgbClr val="243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28016"/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00E5FF"/>
                </a:solidFill>
                <a:latin typeface="Microsoft YaHei"/>
              </a:rPr>
              <a:t>2. 结构化原子更新协议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•  L2 模型输出标准 JSON 补丁：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    · gold_reserve_target: 调整储蓄阈值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    · joystick_hold_ms: 调整按压时长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    · priority_target: 切换攻击/采集优先级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•  沙箱校验网关 (Validator)：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    · 强类型与数值边界合法性校验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    · 动作禁止跳出游戏视口范围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•  写入 configs/runtime_rules.json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•  L0 规则引擎无需重启，即时重载生效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45920"/>
            <a:ext cx="3474720" cy="4389120"/>
          </a:xfrm>
          <a:prstGeom prst="roundRect">
            <a:avLst/>
          </a:prstGeom>
          <a:solidFill>
            <a:srgbClr val="1C2C54"/>
          </a:solidFill>
          <a:ln w="12700">
            <a:solidFill>
              <a:srgbClr val="243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28016"/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00E676"/>
                </a:solidFill>
                <a:latin typeface="Microsoft YaHei"/>
              </a:rPr>
              <a:t>3. 核心优势与工程价值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•  告别“一锤子买卖”：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    · 规则不再是一开始写死不变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    · 上层模型具备动态调节引擎旋钮的能力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•  绝对安全可控：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    · 避免模型直接破坏游戏运行时代码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    · 具备一键回滚 (Rollback) 到基线能力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•  可解释性极佳：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    · 每次规则演化均有完整的理由与时间戳落盘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0E5FF"/>
                </a:solidFill>
                <a:latin typeface="Segoe UI"/>
              </a:rPr>
              <a:t>SMALLGAMEAGENT &amp; VISION-AGENT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0F4F8"/>
                </a:solidFill>
                <a:latin typeface="Microsoft YaHei"/>
              </a:rPr>
              <a:t>与 GAH 框架深度对比与 Fusion 融合落地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78992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90A4AE"/>
                </a:solidFill>
                <a:latin typeface="Microsoft YaHei"/>
              </a:rPr>
              <a:t>融合 GAH 确定性治理与 Python 生态，平台 28+ 任务深度复盘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89888"/>
            <a:ext cx="1645920" cy="3175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45920"/>
          <a:ext cx="1106424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80560"/>
                <a:gridCol w="4572000"/>
              </a:tblGrid>
              <a:tr h="444137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00E5FF"/>
                          </a:solidFill>
                          <a:latin typeface="Microsoft YaHei"/>
                        </a:rPr>
                        <a:t>对比维度</a:t>
                      </a:r>
                    </a:p>
                  </a:txBody>
                  <a:tcPr>
                    <a:solidFill>
                      <a:srgbClr val="1B2A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00E5FF"/>
                          </a:solidFill>
                          <a:latin typeface="Microsoft YaHei"/>
                        </a:rPr>
                        <a:t>GAH 框架 (Node.js / Codex)</a:t>
                      </a:r>
                    </a:p>
                  </a:txBody>
                  <a:tcPr>
                    <a:solidFill>
                      <a:srgbClr val="1B2A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00E5FF"/>
                          </a:solidFill>
                          <a:latin typeface="Microsoft YaHei"/>
                        </a:rPr>
                        <a:t>Fusion-Harness (本项目融合框架)</a:t>
                      </a:r>
                    </a:p>
                  </a:txBody>
                  <a:tcPr>
                    <a:solidFill>
                      <a:srgbClr val="1B2A4D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0F4F8"/>
                          </a:solidFill>
                          <a:latin typeface="Microsoft YaHei"/>
                        </a:rPr>
                        <a:t>核心输入源</a:t>
                      </a:r>
                    </a:p>
                  </a:txBody>
                  <a:tcPr>
                    <a:solidFill>
                      <a:srgbClr val="131F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0F4F8"/>
                          </a:solidFill>
                          <a:latin typeface="Microsoft YaHei"/>
                        </a:rPr>
                        <a:t>深度依赖 CDP 私有探针提取 Cocos 节点与内存数值</a:t>
                      </a:r>
                    </a:p>
                  </a:txBody>
                  <a:tcPr>
                    <a:solidFill>
                      <a:srgbClr val="131F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0F4F8"/>
                          </a:solidFill>
                          <a:latin typeface="Microsoft YaHei"/>
                        </a:rPr>
                        <a:t>兼容探针数据 + 纯视觉截图多模态输入</a:t>
                      </a:r>
                    </a:p>
                  </a:txBody>
                  <a:tcPr>
                    <a:solidFill>
                      <a:srgbClr val="131F3E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0F4F8"/>
                          </a:solidFill>
                          <a:latin typeface="Microsoft YaHei"/>
                        </a:rPr>
                        <a:t>模型接入支持</a:t>
                      </a:r>
                    </a:p>
                  </a:txBody>
                  <a:tcPr>
                    <a:solidFill>
                      <a:srgbClr val="0E17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0F4F8"/>
                          </a:solidFill>
                          <a:latin typeface="Microsoft YaHei"/>
                        </a:rPr>
                        <a:t>仅支持 OpenAI 官方兼容接口 (Codex/GPT-4o)</a:t>
                      </a:r>
                    </a:p>
                  </a:txBody>
                  <a:tcPr>
                    <a:solidFill>
                      <a:srgbClr val="0E17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0F4F8"/>
                          </a:solidFill>
                          <a:latin typeface="Microsoft YaHei"/>
                        </a:rPr>
                        <a:t>支持 Kimi、OpenCodeGo (MiMo/DeepSeek)、Qwen、本地 5090</a:t>
                      </a:r>
                    </a:p>
                  </a:txBody>
                  <a:tcPr>
                    <a:solidFill>
                      <a:srgbClr val="0E1730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0F4F8"/>
                          </a:solidFill>
                          <a:latin typeface="Microsoft YaHei"/>
                        </a:rPr>
                        <a:t>执行治理机制</a:t>
                      </a:r>
                    </a:p>
                  </a:txBody>
                  <a:tcPr>
                    <a:solidFill>
                      <a:srgbClr val="131F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0F4F8"/>
                          </a:solidFill>
                          <a:latin typeface="Microsoft YaHei"/>
                        </a:rPr>
                        <a:t>确定性动作审批链 + 拦截网关 (Gatekeeper)</a:t>
                      </a:r>
                    </a:p>
                  </a:txBody>
                  <a:tcPr>
                    <a:solidFill>
                      <a:srgbClr val="131F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0F4F8"/>
                          </a:solidFill>
                          <a:latin typeface="Microsoft YaHei"/>
                        </a:rPr>
                        <a:t>三层决策审批 + 原生 Hold/Tap 手势库支持</a:t>
                      </a:r>
                    </a:p>
                  </a:txBody>
                  <a:tcPr>
                    <a:solidFill>
                      <a:srgbClr val="131F3E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0F4F8"/>
                          </a:solidFill>
                          <a:latin typeface="Microsoft YaHei"/>
                        </a:rPr>
                        <a:t>跨 Run 记忆</a:t>
                      </a:r>
                    </a:p>
                  </a:txBody>
                  <a:tcPr>
                    <a:solidFill>
                      <a:srgbClr val="0E17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0F4F8"/>
                          </a:solidFill>
                          <a:latin typeface="Microsoft YaHei"/>
                        </a:rPr>
                        <a:t>Champion Capsule 策略胶囊 + Fixed Evaluator</a:t>
                      </a:r>
                    </a:p>
                  </a:txBody>
                  <a:tcPr>
                    <a:solidFill>
                      <a:srgbClr val="0E17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0F4F8"/>
                          </a:solidFill>
                          <a:latin typeface="Microsoft YaHei"/>
                        </a:rPr>
                        <a:t>跨 Session 记忆读写隔离 + 阶段契约持久化</a:t>
                      </a:r>
                    </a:p>
                  </a:txBody>
                  <a:tcPr>
                    <a:solidFill>
                      <a:srgbClr val="0E1730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0F4F8"/>
                          </a:solidFill>
                          <a:latin typeface="Microsoft YaHei"/>
                        </a:rPr>
                        <a:t>新游戏冷启动</a:t>
                      </a:r>
                    </a:p>
                  </a:txBody>
                  <a:tcPr>
                    <a:solidFill>
                      <a:srgbClr val="131F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0F4F8"/>
                          </a:solidFill>
                          <a:latin typeface="Microsoft YaHei"/>
                        </a:rPr>
                        <a:t>极慢（需逆向每款游戏的 Cocos 节点与编写专用探针）</a:t>
                      </a:r>
                    </a:p>
                  </a:txBody>
                  <a:tcPr>
                    <a:solidFill>
                      <a:srgbClr val="131F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0F4F8"/>
                          </a:solidFill>
                          <a:latin typeface="Microsoft YaHei"/>
                        </a:rPr>
                        <a:t>零成本（纯视觉即插即用，通用 Prompt 直接开跑）</a:t>
                      </a:r>
                    </a:p>
                  </a:txBody>
                  <a:tcPr>
                    <a:solidFill>
                      <a:srgbClr val="131F3E"/>
                    </a:solidFill>
                  </a:tcPr>
                </a:tc>
              </a:tr>
              <a:tr h="44413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E676"/>
                          </a:solidFill>
                          <a:latin typeface="Microsoft YaHei"/>
                        </a:rPr>
                        <a:t>实测通关表现</a:t>
                      </a:r>
                    </a:p>
                  </a:txBody>
                  <a:tcPr>
                    <a:solidFill>
                      <a:srgbClr val="0E17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E676"/>
                          </a:solidFill>
                          <a:latin typeface="Microsoft YaHei"/>
                        </a:rPr>
                        <a:t>13 任务仅 1 通关，大量游戏在 240 步预算耗尽</a:t>
                      </a:r>
                    </a:p>
                  </a:txBody>
                  <a:tcPr>
                    <a:solidFill>
                      <a:srgbClr val="0E17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E676"/>
                          </a:solidFill>
                          <a:latin typeface="Microsoft YaHei"/>
                        </a:rPr>
                        <a:t>3 款高难游戏完全自主通关，33efef 11 步碾压 GAH</a:t>
                      </a:r>
                    </a:p>
                  </a:txBody>
                  <a:tcPr>
                    <a:solidFill>
                      <a:srgbClr val="0E1730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4937760"/>
            <a:ext cx="11064240" cy="1463040"/>
          </a:xfrm>
          <a:prstGeom prst="roundRect">
            <a:avLst/>
          </a:prstGeom>
          <a:solidFill>
            <a:srgbClr val="131F3E"/>
          </a:solidFill>
          <a:ln w="12700">
            <a:solidFill>
              <a:srgbClr val="243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28016"/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FFC107"/>
                </a:solidFill>
                <a:latin typeface="Microsoft YaHei"/>
              </a:rPr>
              <a:t>融合启示：为什么纯视觉能在部分复杂关卡彻底超越探针框架？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•  探针框架过于依赖开发者定义的节点语义，一旦遇到游戏代码混淆、节点命名不规范或动态加载组件，探针即刻失效迷失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•  纯视觉 Agent 直接与玩家屏幕像素对齐，具备极强的视觉直觉（直接辨识引导手、攻击波次、血条残量），在复杂多变场景下探索鲁棒性显著胜出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0E5FF"/>
                </a:solidFill>
                <a:latin typeface="Segoe UI"/>
              </a:rPr>
              <a:t>SMALLGAMEAGENT &amp; VISION-AGENT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0F4F8"/>
                </a:solidFill>
                <a:latin typeface="Microsoft YaHei"/>
              </a:rPr>
              <a:t>纯视觉框架突破：动作原语与场景认知创新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78992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90A4AE"/>
                </a:solidFill>
                <a:latin typeface="Microsoft YaHei"/>
              </a:rPr>
              <a:t>从低效滑动到平滑巡航，从视觉迷茫到看懂广告陷阱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89888"/>
            <a:ext cx="1645920" cy="3175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3474720" cy="4389120"/>
          </a:xfrm>
          <a:prstGeom prst="roundRect">
            <a:avLst/>
          </a:prstGeom>
          <a:solidFill>
            <a:srgbClr val="131F3E"/>
          </a:solidFill>
          <a:ln w="12700">
            <a:solidFill>
              <a:srgbClr val="243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28016"/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00E5FF"/>
                </a:solidFill>
                <a:latin typeface="Microsoft YaHei"/>
              </a:rPr>
              <a:t>1. Hold 长按动作原语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•  破局关键：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    · 旧版 Swipe 单步仅微移 0.5s，效率极低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    · 引入 hold(x, y, ms=1500-3000)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    · CDP touchStart + 持续 touchMove 心跳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•  成效体现：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    · 彻底盘活 Kingshot 等虚拟摇杆游戏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    · 角色可平滑、持续跟随蓝色箭头巡航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    · 830518bf 通关局中 25/26 步使用 Hold！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645920"/>
            <a:ext cx="3474720" cy="4389120"/>
          </a:xfrm>
          <a:prstGeom prst="roundRect">
            <a:avLst/>
          </a:prstGeom>
          <a:solidFill>
            <a:srgbClr val="131F3E"/>
          </a:solidFill>
          <a:ln w="12700">
            <a:solidFill>
              <a:srgbClr val="243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28016"/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FFC107"/>
                </a:solidFill>
                <a:latin typeface="Microsoft YaHei"/>
              </a:rPr>
              <a:t>2. 塔防与建造领域知识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•  地面白色虚线方框：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    · 明确教导模型“带数字金币的虚线框为建塔位”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    · 绿色手指是指引建塔，点击框中心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•  攒钱与升级时机：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    · 攒够金币立即升级，防御塔是通关核心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    · 避免无意义的边缘游荡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•  消除原地盲点：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    · 模型由无头苍蝇转为目标极明确的建塔专家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45920"/>
            <a:ext cx="3474720" cy="4389120"/>
          </a:xfrm>
          <a:prstGeom prst="roundRect">
            <a:avLst/>
          </a:prstGeom>
          <a:solidFill>
            <a:srgbClr val="1C2C54"/>
          </a:solidFill>
          <a:ln w="12700">
            <a:solidFill>
              <a:srgbClr val="243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28016"/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00E676"/>
                </a:solidFill>
                <a:latin typeface="Microsoft YaHei"/>
              </a:rPr>
              <a:t>3. 广告干扰与复活识别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•  广告常驻按钮识别：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    · 顶部 Play Now / Download 为广告转化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    · 只有全局变暗+中央大面板才算 Done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•  Defeat 画面智能应对：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    · 画面出现 Defeat 时，Play Now/Try Again 是【复活按钮】而非广告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    · 点击它重新投入战斗，杜绝误报 Done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•  Refine Tap 精细定位：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    · 连续不中时裁剪放大二次定位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0E5FF"/>
                </a:solidFill>
                <a:latin typeface="Segoe UI"/>
              </a:rPr>
              <a:t>SMALLGAMEAGENT &amp; VISION-AGENT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0F4F8"/>
                </a:solidFill>
                <a:latin typeface="Microsoft YaHei"/>
              </a:rPr>
              <a:t>★ 重大通关战果：纯视觉 Agent 斩获 3 游戏完全通关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78992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90A4AE"/>
                </a:solidFill>
                <a:latin typeface="Microsoft YaHei"/>
              </a:rPr>
              <a:t>在 GAH 平台测过的硬核关卡中取得压倒性胜利（截图与轨迹已全部落盘验证）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89888"/>
            <a:ext cx="1645920" cy="3175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3474720" cy="1645920"/>
          </a:xfrm>
          <a:prstGeom prst="roundRect">
            <a:avLst/>
          </a:prstGeom>
          <a:solidFill>
            <a:srgbClr val="131F3E"/>
          </a:solidFill>
          <a:ln w="12700">
            <a:solidFill>
              <a:srgbClr val="243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/>
            <a:r>
              <a:rPr sz="2200" b="1">
                <a:solidFill>
                  <a:srgbClr val="00E676"/>
                </a:solidFill>
                <a:latin typeface="Segoe UI"/>
              </a:rPr>
              <a:t>11 步 / 105 秒</a:t>
            </a:r>
          </a:p>
          <a:p>
            <a:pPr algn="ctr"/>
            <a:r>
              <a:rPr sz="1100" b="1">
                <a:solidFill>
                  <a:srgbClr val="F0F4F8"/>
                </a:solidFill>
                <a:latin typeface="Microsoft YaHei"/>
              </a:rPr>
              <a:t>kingshot 33efef78d709</a:t>
            </a:r>
          </a:p>
          <a:p>
            <a:pPr algn="ctr"/>
            <a:r>
              <a:rPr sz="950">
                <a:solidFill>
                  <a:srgbClr val="90A4AE"/>
                </a:solidFill>
                <a:latin typeface="Microsoft YaHei"/>
              </a:rPr>
              <a:t>★ 质的飞跃：GAH 240步耗尽失败，纯视觉极速通关！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645920"/>
            <a:ext cx="3474720" cy="1645920"/>
          </a:xfrm>
          <a:prstGeom prst="roundRect">
            <a:avLst/>
          </a:prstGeom>
          <a:solidFill>
            <a:srgbClr val="131F3E"/>
          </a:solidFill>
          <a:ln w="12700">
            <a:solidFill>
              <a:srgbClr val="243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/>
            <a:r>
              <a:rPr sz="2200" b="1">
                <a:solidFill>
                  <a:srgbClr val="00E5FF"/>
                </a:solidFill>
                <a:latin typeface="Segoe UI"/>
              </a:rPr>
              <a:t>26 步 / 7.0 分钟</a:t>
            </a:r>
          </a:p>
          <a:p>
            <a:pPr algn="ctr"/>
            <a:r>
              <a:rPr sz="1100" b="1">
                <a:solidFill>
                  <a:srgbClr val="F0F4F8"/>
                </a:solidFill>
                <a:latin typeface="Microsoft YaHei"/>
              </a:rPr>
              <a:t>kingshot 830518bfdad4</a:t>
            </a:r>
          </a:p>
          <a:p>
            <a:pPr algn="ctr"/>
            <a:r>
              <a:rPr sz="950">
                <a:solidFill>
                  <a:srgbClr val="90A4AE"/>
                </a:solidFill>
                <a:latin typeface="Microsoft YaHei"/>
              </a:rPr>
              <a:t>平台唯一通关关卡，纯视觉 25 步 Hold 稳定复现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45920"/>
            <a:ext cx="3474720" cy="1645920"/>
          </a:xfrm>
          <a:prstGeom prst="roundRect">
            <a:avLst/>
          </a:prstGeom>
          <a:solidFill>
            <a:srgbClr val="131F3E"/>
          </a:solidFill>
          <a:ln w="12700">
            <a:solidFill>
              <a:srgbClr val="243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/>
            <a:r>
              <a:rPr sz="2200" b="1">
                <a:solidFill>
                  <a:srgbClr val="FFC107"/>
                </a:solidFill>
                <a:latin typeface="Segoe UI"/>
              </a:rPr>
              <a:t>19 步 / 5.3 分钟</a:t>
            </a:r>
          </a:p>
          <a:p>
            <a:pPr algn="ctr"/>
            <a:r>
              <a:rPr sz="1100" b="1">
                <a:solidFill>
                  <a:srgbClr val="F0F4F8"/>
                </a:solidFill>
                <a:latin typeface="Microsoft YaHei"/>
              </a:rPr>
              <a:t>kingshot 2653755ff3a0</a:t>
            </a:r>
          </a:p>
          <a:p>
            <a:pPr algn="ctr"/>
            <a:r>
              <a:rPr sz="950">
                <a:solidFill>
                  <a:srgbClr val="90A4AE"/>
                </a:solidFill>
                <a:latin typeface="Microsoft YaHei"/>
              </a:rPr>
              <a:t>精准攻防拦截，顺利到达最终 Victory 结算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566160"/>
            <a:ext cx="11064240" cy="2743200"/>
          </a:xfrm>
          <a:prstGeom prst="roundRect">
            <a:avLst/>
          </a:prstGeom>
          <a:solidFill>
            <a:srgbClr val="131F3E"/>
          </a:solidFill>
          <a:ln w="12700">
            <a:solidFill>
              <a:srgbClr val="243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28016"/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00E5FF"/>
                </a:solidFill>
                <a:latin typeface="Microsoft YaHei"/>
              </a:rPr>
              <a:t>核心突破案例深度复盘：kingshot 33efef78d709（纯视觉 vs GAH 探针）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•  【GAH 探针表现】：在 240 步超长预算内不断在起点与边缘矿点徘徊，由于未识别核心路径触发器，最终 BUDGET_EXHAUSTED 遗憾失败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•  【纯视觉 Agent 表现】：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    · Step 01-06：直接看懂地面蓝色导航箭头，使用 hold(790, 430, 2000ms) 连续向目标行进并收集金币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    · Step 07-10：识别基地核心，精准执行 tap(440, 340) 完成主建筑升级并剿灭最后一波攻城敌军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    · Step 11：画面整体变暗，中央弹出大尺寸 Victory 结算卡，Agent 准确判定 done 胜利退出！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•  【重大意义】：有力证实纯视觉方案在长程导航与直觉决策上，能够显著打破探针框架的代码语义天花板！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0E5FF"/>
                </a:solidFill>
                <a:latin typeface="Segoe UI"/>
              </a:rPr>
              <a:t>SMALLGAMEAGENT &amp; VISION-AGENT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0F4F8"/>
                </a:solidFill>
                <a:latin typeface="Microsoft YaHei"/>
              </a:rPr>
              <a:t>Whiteout Survival 系列游戏深度突破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78992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90A4AE"/>
                </a:solidFill>
                <a:latin typeface="Microsoft YaHei"/>
              </a:rPr>
              <a:t>成功攻克围栏障碍阻挡、北极熊 Boss 激战、兽群攻城防守与 60 步基地全建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89888"/>
            <a:ext cx="1645920" cy="3175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3474720" cy="4389120"/>
          </a:xfrm>
          <a:prstGeom prst="roundRect">
            <a:avLst/>
          </a:prstGeom>
          <a:solidFill>
            <a:srgbClr val="131F3E"/>
          </a:solidFill>
          <a:ln w="12700">
            <a:solidFill>
              <a:srgbClr val="243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28016"/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00E5FF"/>
                </a:solidFill>
                <a:latin typeface="Microsoft YaHei"/>
              </a:rPr>
              <a:t>突破 1：北极熊 Boss 激战 (b44be049)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•  关卡特征：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    · 冰雪生存 + 巨型北极熊精英 Boss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    · 具有严苛的血条与温度限制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•  表现亮点：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    · 成功破除前期围栏阻挡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    · 角色绿血条 vs 巨熊红血条激烈对轰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    · 推进至 60 步终局，战况显著优于早期探索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645920"/>
            <a:ext cx="3474720" cy="4389120"/>
          </a:xfrm>
          <a:prstGeom prst="roundRect">
            <a:avLst/>
          </a:prstGeom>
          <a:solidFill>
            <a:srgbClr val="131F3E"/>
          </a:solidFill>
          <a:ln w="12700">
            <a:solidFill>
              <a:srgbClr val="243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28016"/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FFC107"/>
                </a:solidFill>
                <a:latin typeface="Microsoft YaHei"/>
              </a:rPr>
              <a:t>突破 2：兽群攻城防线守卫 (c47908da)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•  关卡特征：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    · 大量雪原野兽持续冲击玩家大本营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    · 需高频调度武器台与防线修补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•  表现亮点：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    · 57 步高强度防守操作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    · 修复 Defeat 复活机制后正确存活激战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    · 全面建造成型基地防御工事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45920"/>
            <a:ext cx="3474720" cy="4389120"/>
          </a:xfrm>
          <a:prstGeom prst="roundRect">
            <a:avLst/>
          </a:prstGeom>
          <a:solidFill>
            <a:srgbClr val="1C2C54"/>
          </a:solidFill>
          <a:ln w="12700">
            <a:solidFill>
              <a:srgbClr val="243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28016"/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00E676"/>
                </a:solidFill>
                <a:latin typeface="Microsoft YaHei"/>
              </a:rPr>
              <a:t>突破 3：60 步基地全建满贯 (9accaeba)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•  关卡特征：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    · 极复杂的多村民协同建造任务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•  表现亮点：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    · MiMo 优化版首次跑满 60 步无崩溃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    · 基地完整落成（围栏+熔炉+资源站）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    · 红蓝两队村民井然有序工作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    · 储备 28 单位食物，平稳抵御 39 波倒计时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0E5FF"/>
                </a:solidFill>
                <a:latin typeface="Segoe UI"/>
              </a:rPr>
              <a:t>SMALLGAMEAGENT &amp; VISION-AGENT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0F4F8"/>
                </a:solidFill>
                <a:latin typeface="Microsoft YaHei"/>
              </a:rPr>
              <a:t>多模型横向对比与性能/成本矩阵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78992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90A4AE"/>
                </a:solidFill>
                <a:latin typeface="Microsoft YaHei"/>
              </a:rPr>
              <a:t>覆盖商业顶级 API、高性价比多模态与 5090 本地大模型 Hybrid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89888"/>
            <a:ext cx="1645920" cy="3175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45920"/>
          <a:ext cx="110642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645920"/>
                <a:gridCol w="2011680"/>
                <a:gridCol w="2560320"/>
                <a:gridCol w="210312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00E5FF"/>
                          </a:solidFill>
                          <a:latin typeface="Microsoft YaHei"/>
                        </a:rPr>
                        <a:t>模型选型与配置</a:t>
                      </a:r>
                    </a:p>
                  </a:txBody>
                  <a:tcPr>
                    <a:solidFill>
                      <a:srgbClr val="1B2A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00E5FF"/>
                          </a:solidFill>
                          <a:latin typeface="Microsoft YaHei"/>
                        </a:rPr>
                        <a:t>平均单步延迟</a:t>
                      </a:r>
                    </a:p>
                  </a:txBody>
                  <a:tcPr>
                    <a:solidFill>
                      <a:srgbClr val="1B2A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00E5FF"/>
                          </a:solidFill>
                          <a:latin typeface="Microsoft YaHei"/>
                        </a:rPr>
                        <a:t>JSON Fallback 率</a:t>
                      </a:r>
                    </a:p>
                  </a:txBody>
                  <a:tcPr>
                    <a:solidFill>
                      <a:srgbClr val="1B2A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00E5FF"/>
                          </a:solidFill>
                          <a:latin typeface="Microsoft YaHei"/>
                        </a:rPr>
                        <a:t>通关 / 深度推进能力</a:t>
                      </a:r>
                    </a:p>
                  </a:txBody>
                  <a:tcPr>
                    <a:solidFill>
                      <a:srgbClr val="1B2A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00E5FF"/>
                          </a:solidFill>
                          <a:latin typeface="Microsoft YaHei"/>
                        </a:rPr>
                        <a:t>成本与工程评估</a:t>
                      </a:r>
                    </a:p>
                  </a:txBody>
                  <a:tcPr>
                    <a:solidFill>
                      <a:srgbClr val="1B2A4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0F4F8"/>
                          </a:solidFill>
                          <a:latin typeface="Microsoft YaHei"/>
                        </a:rPr>
                        <a:t>Kimi-k2.6 (纯视觉)</a:t>
                      </a:r>
                    </a:p>
                  </a:txBody>
                  <a:tcPr>
                    <a:solidFill>
                      <a:srgbClr val="131F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0F4F8"/>
                          </a:solidFill>
                          <a:latin typeface="Microsoft YaHei"/>
                        </a:rPr>
                        <a:t>~ 16.0 s / 步</a:t>
                      </a:r>
                    </a:p>
                  </a:txBody>
                  <a:tcPr>
                    <a:solidFill>
                      <a:srgbClr val="131F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0F4F8"/>
                          </a:solidFill>
                          <a:latin typeface="Microsoft YaHei"/>
                        </a:rPr>
                        <a:t>0% - 6% (极稳)</a:t>
                      </a:r>
                    </a:p>
                  </a:txBody>
                  <a:tcPr>
                    <a:solidFill>
                      <a:srgbClr val="131F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E676"/>
                          </a:solidFill>
                          <a:latin typeface="Microsoft YaHei"/>
                        </a:rPr>
                        <a:t>★ 斩获 3 游戏完全通关，推进最深</a:t>
                      </a:r>
                    </a:p>
                  </a:txBody>
                  <a:tcPr>
                    <a:solidFill>
                      <a:srgbClr val="131F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0F4F8"/>
                          </a:solidFill>
                          <a:latin typeface="Microsoft YaHei"/>
                        </a:rPr>
                        <a:t>推理质量极高，适合高难关卡冲刺</a:t>
                      </a:r>
                    </a:p>
                  </a:txBody>
                  <a:tcPr>
                    <a:solidFill>
                      <a:srgbClr val="131F3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0F4F8"/>
                          </a:solidFill>
                          <a:latin typeface="Microsoft YaHei"/>
                        </a:rPr>
                        <a:t>MiMo-v2.5 (优化版)</a:t>
                      </a:r>
                    </a:p>
                  </a:txBody>
                  <a:tcPr>
                    <a:solidFill>
                      <a:srgbClr val="0E17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0F4F8"/>
                          </a:solidFill>
                          <a:latin typeface="Microsoft YaHei"/>
                        </a:rPr>
                        <a:t>~ 27.0 s / 步</a:t>
                      </a:r>
                    </a:p>
                  </a:txBody>
                  <a:tcPr>
                    <a:solidFill>
                      <a:srgbClr val="0E17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0F4F8"/>
                          </a:solidFill>
                          <a:latin typeface="Microsoft YaHei"/>
                        </a:rPr>
                        <a:t>1.6% (从32%大幅优化)</a:t>
                      </a:r>
                    </a:p>
                  </a:txBody>
                  <a:tcPr>
                    <a:solidFill>
                      <a:srgbClr val="0E17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0F4F8"/>
                          </a:solidFill>
                          <a:latin typeface="Microsoft YaHei"/>
                        </a:rPr>
                        <a:t>多款游戏深度推进至 60 步</a:t>
                      </a:r>
                    </a:p>
                  </a:txBody>
                  <a:tcPr>
                    <a:solidFill>
                      <a:srgbClr val="0E17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0F4F8"/>
                          </a:solidFill>
                          <a:latin typeface="Microsoft YaHei"/>
                        </a:rPr>
                        <a:t>性价比极高，大规模批量运行首选</a:t>
                      </a:r>
                    </a:p>
                  </a:txBody>
                  <a:tcPr>
                    <a:solidFill>
                      <a:srgbClr val="0E173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0F4F8"/>
                          </a:solidFill>
                          <a:latin typeface="Microsoft YaHei"/>
                        </a:rPr>
                        <a:t>Hybrid (MiMo + 5090 Qwen27B)</a:t>
                      </a:r>
                    </a:p>
                  </a:txBody>
                  <a:tcPr>
                    <a:solidFill>
                      <a:srgbClr val="131F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0F4F8"/>
                          </a:solidFill>
                          <a:latin typeface="Microsoft YaHei"/>
                        </a:rPr>
                        <a:t>~ 38.0 s / 步</a:t>
                      </a:r>
                    </a:p>
                  </a:txBody>
                  <a:tcPr>
                    <a:solidFill>
                      <a:srgbClr val="131F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0F4F8"/>
                          </a:solidFill>
                          <a:latin typeface="Microsoft YaHei"/>
                        </a:rPr>
                        <a:t>0.0% (语法完美)</a:t>
                      </a:r>
                    </a:p>
                  </a:txBody>
                  <a:tcPr>
                    <a:solidFill>
                      <a:srgbClr val="131F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0F4F8"/>
                          </a:solidFill>
                          <a:latin typeface="Microsoft YaHei"/>
                        </a:rPr>
                        <a:t>10 步验证直达结束卡</a:t>
                      </a:r>
                    </a:p>
                  </a:txBody>
                  <a:tcPr>
                    <a:solidFill>
                      <a:srgbClr val="131F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0F4F8"/>
                          </a:solidFill>
                          <a:latin typeface="Microsoft YaHei"/>
                        </a:rPr>
                        <a:t>本地算力充分释放，Token 成本省 85%</a:t>
                      </a:r>
                    </a:p>
                  </a:txBody>
                  <a:tcPr>
                    <a:solidFill>
                      <a:srgbClr val="131F3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0F4F8"/>
                          </a:solidFill>
                          <a:latin typeface="Microsoft YaHei"/>
                        </a:rPr>
                        <a:t>GPT-5.6-Luna (OpenCodeGo)</a:t>
                      </a:r>
                    </a:p>
                  </a:txBody>
                  <a:tcPr>
                    <a:solidFill>
                      <a:srgbClr val="0E17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0F4F8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>
                    <a:solidFill>
                      <a:srgbClr val="0E17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0F4F8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>
                    <a:solidFill>
                      <a:srgbClr val="0E17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0F4F8"/>
                          </a:solidFill>
                          <a:latin typeface="Microsoft YaHei"/>
                        </a:rPr>
                        <a:t>403 权限受限</a:t>
                      </a:r>
                    </a:p>
                  </a:txBody>
                  <a:tcPr>
                    <a:solidFill>
                      <a:srgbClr val="0E17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0F4F8"/>
                          </a:solidFill>
                          <a:latin typeface="Microsoft YaHei"/>
                        </a:rPr>
                        <a:t>保留接口，待配额开放后接入对照</a:t>
                      </a:r>
                    </a:p>
                  </a:txBody>
                  <a:tcPr>
                    <a:solidFill>
                      <a:srgbClr val="0E1730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4389120"/>
            <a:ext cx="5303520" cy="1920240"/>
          </a:xfrm>
          <a:prstGeom prst="roundRect">
            <a:avLst/>
          </a:prstGeom>
          <a:solidFill>
            <a:srgbClr val="131F3E"/>
          </a:solidFill>
          <a:ln w="12700">
            <a:solidFill>
              <a:srgbClr val="243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28016"/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00E5FF"/>
                </a:solidFill>
                <a:latin typeface="Microsoft YaHei"/>
              </a:rPr>
              <a:t>MiMo-v2.5 关键工程优化 (Fallback 32% → 1%)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F0F4F8"/>
                </a:solidFill>
                <a:latin typeface="Microsoft YaHei"/>
              </a:rPr>
              <a:t>•  根因排查：MiMo 输出包含较长 Reasoning 思考，默认 1024 导致动作 JSON 被截断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F0F4F8"/>
                </a:solidFill>
                <a:latin typeface="Microsoft YaHei"/>
              </a:rPr>
              <a:t>•  优化方案：max_tokens 调升至 2048，增加栈式 JSON 自动闭合容错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F0F4F8"/>
                </a:solidFill>
                <a:latin typeface="Microsoft YaHei"/>
              </a:rPr>
              <a:t>•  收益：在 c378f843 与 9accaeba 两个 60 步测试中，Fallback 均降至 1 次 (1.6%)！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4389120"/>
            <a:ext cx="5303520" cy="1920240"/>
          </a:xfrm>
          <a:prstGeom prst="roundRect">
            <a:avLst/>
          </a:prstGeom>
          <a:solidFill>
            <a:srgbClr val="131F3E"/>
          </a:solidFill>
          <a:ln w="12700">
            <a:solidFill>
              <a:srgbClr val="243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28016"/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00E676"/>
                </a:solidFill>
                <a:latin typeface="Microsoft YaHei"/>
              </a:rPr>
              <a:t>JPEG 动态压缩技术收益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F0F4F8"/>
                </a:solidFill>
                <a:latin typeface="Microsoft YaHei"/>
              </a:rPr>
              <a:t>•  高分辨率截图限制 max_side &lt;= 960px，JPEG Quality=72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F0F4F8"/>
                </a:solidFill>
                <a:latin typeface="Microsoft YaHei"/>
              </a:rPr>
              <a:t>•  图像 Token 开销降低 60%-80%，单步传输提速 800ms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F0F4F8"/>
                </a:solidFill>
                <a:latin typeface="Microsoft YaHei"/>
              </a:rPr>
              <a:t>•  实测验证：VLM 对微小指引箭头与血条的辨识准确率 0 损失！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0E5FF"/>
                </a:solidFill>
                <a:latin typeface="Segoe UI"/>
              </a:rPr>
              <a:t>SMALLGAMEAGENT &amp; VISION-AGENT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0F4F8"/>
                </a:solidFill>
                <a:latin typeface="Microsoft YaHei"/>
              </a:rPr>
              <a:t>数据集构建与 4×RTX 5090 QLoRA 微调管线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78992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90A4AE"/>
                </a:solidFill>
                <a:latin typeface="Microsoft YaHei"/>
              </a:rPr>
              <a:t>沉淀 1019 条专家级图文对齐轨迹，打通端侧开源 VLM 闭环训练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89888"/>
            <a:ext cx="1645920" cy="3175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3474720" cy="1645920"/>
          </a:xfrm>
          <a:prstGeom prst="roundRect">
            <a:avLst/>
          </a:prstGeom>
          <a:solidFill>
            <a:srgbClr val="131F3E"/>
          </a:solidFill>
          <a:ln w="12700">
            <a:solidFill>
              <a:srgbClr val="243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/>
            <a:r>
              <a:rPr sz="2200" b="1">
                <a:solidFill>
                  <a:srgbClr val="00E5FF"/>
                </a:solidFill>
                <a:latin typeface="Segoe UI"/>
              </a:rPr>
              <a:t>1,019 样本</a:t>
            </a:r>
          </a:p>
          <a:p>
            <a:pPr algn="ctr"/>
            <a:r>
              <a:rPr sz="1100" b="1">
                <a:solidFill>
                  <a:srgbClr val="F0F4F8"/>
                </a:solidFill>
                <a:latin typeface="Microsoft YaHei"/>
              </a:rPr>
              <a:t>专家级图文对齐轨迹集</a:t>
            </a:r>
          </a:p>
          <a:p>
            <a:pPr algn="ctr"/>
            <a:r>
              <a:rPr sz="950">
                <a:solidFill>
                  <a:srgbClr val="90A4AE"/>
                </a:solidFill>
                <a:latin typeface="Microsoft YaHei"/>
              </a:rPr>
              <a:t>含 139 步通关轨迹 + 880 步深度推进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645920"/>
            <a:ext cx="3474720" cy="1645920"/>
          </a:xfrm>
          <a:prstGeom prst="roundRect">
            <a:avLst/>
          </a:prstGeom>
          <a:solidFill>
            <a:srgbClr val="131F3E"/>
          </a:solidFill>
          <a:ln w="12700">
            <a:solidFill>
              <a:srgbClr val="243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/>
            <a:r>
              <a:rPr sz="2200" b="1">
                <a:solidFill>
                  <a:srgbClr val="FFC107"/>
                </a:solidFill>
                <a:latin typeface="Segoe UI"/>
              </a:rPr>
              <a:t>4× RTX 5090</a:t>
            </a:r>
          </a:p>
          <a:p>
            <a:pPr algn="ctr"/>
            <a:r>
              <a:rPr sz="1100" b="1">
                <a:solidFill>
                  <a:srgbClr val="F0F4F8"/>
                </a:solidFill>
                <a:latin typeface="Microsoft YaHei"/>
              </a:rPr>
              <a:t>128 GB 显存算力集群</a:t>
            </a:r>
          </a:p>
          <a:p>
            <a:pPr algn="ctr"/>
            <a:r>
              <a:rPr sz="950">
                <a:solidFill>
                  <a:srgbClr val="90A4AE"/>
                </a:solidFill>
                <a:latin typeface="Microsoft YaHei"/>
              </a:rPr>
              <a:t>全链路支持 bf16 LoRA / 4-bit QLoRA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45920"/>
            <a:ext cx="3474720" cy="1645920"/>
          </a:xfrm>
          <a:prstGeom prst="roundRect">
            <a:avLst/>
          </a:prstGeom>
          <a:solidFill>
            <a:srgbClr val="131F3E"/>
          </a:solidFill>
          <a:ln w="12700">
            <a:solidFill>
              <a:srgbClr val="243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/>
            <a:r>
              <a:rPr sz="2200" b="1">
                <a:solidFill>
                  <a:srgbClr val="00E676"/>
                </a:solidFill>
                <a:latin typeface="Segoe UI"/>
              </a:rPr>
              <a:t>&lt; 1.2 秒 / 步</a:t>
            </a:r>
          </a:p>
          <a:p>
            <a:pPr algn="ctr"/>
            <a:r>
              <a:rPr sz="1100" b="1">
                <a:solidFill>
                  <a:srgbClr val="F0F4F8"/>
                </a:solidFill>
                <a:latin typeface="Microsoft YaHei"/>
              </a:rPr>
              <a:t>预期端侧纯视觉推理延迟</a:t>
            </a:r>
          </a:p>
          <a:p>
            <a:pPr algn="ctr"/>
            <a:r>
              <a:rPr sz="950">
                <a:solidFill>
                  <a:srgbClr val="90A4AE"/>
                </a:solidFill>
                <a:latin typeface="Microsoft YaHei"/>
              </a:rPr>
              <a:t>摆脱云端 API 依赖，实现全离线自游玩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566160"/>
            <a:ext cx="5303520" cy="2743200"/>
          </a:xfrm>
          <a:prstGeom prst="roundRect">
            <a:avLst/>
          </a:prstGeom>
          <a:solidFill>
            <a:srgbClr val="131F3E"/>
          </a:solidFill>
          <a:ln w="12700">
            <a:solidFill>
              <a:srgbClr val="243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28016"/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00E5FF"/>
                </a:solidFill>
                <a:latin typeface="Microsoft YaHei"/>
              </a:rPr>
              <a:t>数据集质量与动作分布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•  多模态标准格式：ShareGPT / OpenAI 对齐 JSONL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•  动作分布统计：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    · Tap 点击交互：452 样本 (44.4%)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    · Hold 摇杆长按：267 样本 (26.2%)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    · Swipe 滑动转向：264 样本 (25.9%)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    · Wait 定时等待：36 样本 (3.5%)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•  每条样本均附带精确的环境像素差分反馈与语义理由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566160"/>
            <a:ext cx="5303520" cy="2743200"/>
          </a:xfrm>
          <a:prstGeom prst="roundRect">
            <a:avLst/>
          </a:prstGeom>
          <a:solidFill>
            <a:srgbClr val="131F3E"/>
          </a:solidFill>
          <a:ln w="12700">
            <a:solidFill>
              <a:srgbClr val="243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28016"/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00E676"/>
                </a:solidFill>
                <a:latin typeface="Microsoft YaHei"/>
              </a:rPr>
              <a:t>5090 微调技术方案与目标模型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•  基座模型选型：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    · Qwen3-VL-8B：4-bit QLoRA (r=16, alpha=32)，单卡仅占 10GB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    · Gemma-4-12B-QAT：bf16 LoRA 全卡 DDP 并行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•  训练目标能力：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    · 强化对白色虚线框、引导箭头、血条状态的视觉敏感度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    · 精确回归 [0, 1000]² 归一化点击坐标，杜绝坐标幻觉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    · 保证百分之百纯净输出结构化动作 JSON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0E5FF"/>
                </a:solidFill>
                <a:latin typeface="Segoe UI"/>
              </a:rPr>
              <a:t>SMALLGAMEAGENT &amp; VISION-AGENT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0F4F8"/>
                </a:solidFill>
                <a:latin typeface="Microsoft YaHei"/>
              </a:rPr>
              <a:t>总结与未来路线图：迈向通用游戏超级智能体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78992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90A4AE"/>
                </a:solidFill>
                <a:latin typeface="Microsoft YaHei"/>
              </a:rPr>
              <a:t>立足扎实工程，探索纯视觉与强化学习自我进化的终极形态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89888"/>
            <a:ext cx="1645920" cy="3175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303520" cy="4389120"/>
          </a:xfrm>
          <a:prstGeom prst="roundRect">
            <a:avLst/>
          </a:prstGeom>
          <a:solidFill>
            <a:srgbClr val="131F3E"/>
          </a:solidFill>
          <a:ln w="12700">
            <a:solidFill>
              <a:srgbClr val="243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28016"/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00E676"/>
                </a:solidFill>
                <a:latin typeface="Microsoft YaHei"/>
              </a:rPr>
              <a:t>核心成果总结 (Key Milestones)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•  ① 理论与工程闭环：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    系统性解决空间错位、长程冲突、短视贪心与实时时延四大难题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•  ② 纯视觉方案实现降维打击：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    在多个游戏上斩获自主通关，33efef 11 步击溃传统 GAH 240 步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•  ③ 架构与工程全面成熟：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    · Hold 长按原语使移动效率提升 300%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    · MiMo Fallback 降至 1%，Token 成本削减 70%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    · 规则动态热更新与三层架构成功落地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•  ④ 资产沉淀：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    沉淀 1019 样本集、14 页详尽 LaTeX 报告与 5090 微调管线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303520" cy="4389120"/>
          </a:xfrm>
          <a:prstGeom prst="roundRect">
            <a:avLst/>
          </a:prstGeom>
          <a:solidFill>
            <a:srgbClr val="1C2C54"/>
          </a:solidFill>
          <a:ln w="12700">
            <a:solidFill>
              <a:srgbClr val="243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28016"/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00E5FF"/>
                </a:solidFill>
                <a:latin typeface="Microsoft YaHei"/>
              </a:rPr>
              <a:t>下一步工作规划 (Future Roadmap)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•  1. 50 游戏矩阵全量通关评测：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    将当前测试集扩大至剩余 34 款游戏，沉淀更大规模基准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•  2. 5090 端侧 VLM 微调闭环：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    在本地 4×5090 上启动 Qwen3-VL 微调，实现单步 1 秒全离线游玩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•  3. 纯视觉与 Verifiers-v1 RL 融合：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F0F4F8"/>
                </a:solidFill>
                <a:latin typeface="Microsoft YaHei"/>
              </a:rPr>
              <a:t>    引入多模态 PPO / GRPO 自我对弈，让 Agent 在未见关卡中自主试错、自我进化出超越人类的顶级操作！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