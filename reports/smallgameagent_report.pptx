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-914400"/>
            <a:ext cx="5486400" cy="9144000"/>
          </a:xfrm>
          <a:prstGeom prst="rect">
            <a:avLst/>
          </a:prstGeom>
          <a:solidFill>
            <a:srgbClr val="0096C7">
              <a:lumMod val="75000"/>
              <a:lumOff val="25000"/>
            </a:srgbClr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822960"/>
            <a:ext cx="1828800" cy="1828800"/>
          </a:xfrm>
          <a:prstGeom prst="ellipse">
            <a:avLst/>
          </a:prstGeom>
          <a:solidFill>
            <a:srgbClr val="FF6B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2011680"/>
            <a:ext cx="1005840" cy="1005840"/>
          </a:xfrm>
          <a:prstGeom prst="ellipse">
            <a:avLst/>
          </a:prstGeom>
          <a:solidFill>
            <a:srgbClr val="F3F6F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-457200" y="5212080"/>
            <a:ext cx="13258800" cy="1920240"/>
          </a:xfrm>
          <a:prstGeom prst="round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-457200" y="5577840"/>
            <a:ext cx="13258800" cy="1554480"/>
          </a:xfrm>
          <a:prstGeom prst="roundRect">
            <a:avLst/>
          </a:prstGeom>
          <a:solidFill>
            <a:srgbClr val="007AA3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0" y="5074920"/>
            <a:ext cx="3959352" cy="54864"/>
          </a:xfrm>
          <a:prstGeom prst="rect">
            <a:avLst/>
          </a:prstGeom>
          <a:solidFill>
            <a:srgbClr val="FF6B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3F6F9"/>
                </a:solidFill>
                <a:latin typeface="Microsoft YaHei"/>
              </a:defRPr>
            </a:pPr>
            <a:r>
              <a:t>smallgameagent 实验进展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37560"/>
            <a:ext cx="112471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0">
                <a:solidFill>
                  <a:srgbClr val="F3F6F9"/>
                </a:solidFill>
                <a:latin typeface="Microsoft YaHei"/>
              </a:defRPr>
            </a:pPr>
            <a:r>
              <a:t>LLM/VLM + 规则驱动的小游戏 Agent</a:t>
            </a:r>
            <a:br/>
            <a:r>
              <a:t>多 Provider、在线规则更新与批量数据管线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97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3F6F9"/>
                </a:solidFill>
                <a:latin typeface="Microsoft YaHei"/>
              </a:defRPr>
            </a:pPr>
            <a:r>
              <a:t>分层多 Agent · 在线规则进化 · 批量数据管线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37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3F6F9"/>
                </a:solidFill>
                <a:latin typeface="Microsoft YaHei"/>
              </a:defRPr>
            </a:pPr>
            <a:r>
              <a:t>为什么这件事值得做？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64592" cy="5897880"/>
          </a:xfrm>
          <a:prstGeom prst="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78992"/>
            <a:ext cx="11548872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1353312"/>
            <a:ext cx="5486400" cy="2286000"/>
          </a:xfrm>
          <a:prstGeom prst="roundRect">
            <a:avLst/>
          </a:prstGeom>
          <a:solidFill>
            <a:srgbClr val="D0D5D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325880"/>
            <a:ext cx="5486400" cy="411480"/>
          </a:xfrm>
          <a:prstGeom prst="rect">
            <a:avLst/>
          </a:prstGeom>
          <a:solidFill>
            <a:srgbClr val="1A237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399032"/>
            <a:ext cx="5340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3F6F9"/>
                </a:solidFill>
                <a:latin typeface="Microsoft YaHei"/>
              </a:defRPr>
            </a:pPr>
            <a:r>
              <a:t>小游戏可玩广告自动化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828800"/>
            <a:ext cx="5266944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每天有大量 playable ad 需要测试和调优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手动玩、手动评效率低，难以规模化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不同游戏后端差异大，'一刀切'策略走不通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1353312"/>
            <a:ext cx="5486400" cy="2286000"/>
          </a:xfrm>
          <a:prstGeom prst="roundRect">
            <a:avLst/>
          </a:prstGeom>
          <a:solidFill>
            <a:srgbClr val="D0D5D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55080" y="132588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325880"/>
            <a:ext cx="5486400" cy="411480"/>
          </a:xfrm>
          <a:prstGeom prst="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1399032"/>
            <a:ext cx="5340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3F6F9"/>
                </a:solidFill>
                <a:latin typeface="Microsoft YaHei"/>
              </a:defRPr>
            </a:pPr>
            <a:r>
              <a:t>我们的解法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1828800"/>
            <a:ext cx="5266944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把'快执行'和'慢思考'拆开：规则负责毫秒级动作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云端大模型负责长程规划和规则进化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本地小 VLM 作为'眼睛'，给云端提供画面证据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532120" y="2148840"/>
            <a:ext cx="1371600" cy="640080"/>
          </a:xfrm>
          <a:prstGeom prst="rightArrow">
            <a:avLst/>
          </a:prstGeom>
          <a:solidFill>
            <a:srgbClr val="FF6B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3886200"/>
            <a:ext cx="11247120" cy="1737360"/>
          </a:xfrm>
          <a:prstGeom prst="roundRect">
            <a:avLst/>
          </a:prstGeom>
          <a:solidFill>
            <a:srgbClr val="F3F6F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0">
                <a:solidFill>
                  <a:srgbClr val="1E2933"/>
                </a:solidFill>
                <a:latin typeface="Microsoft YaHei"/>
              </a:defRPr>
            </a:pPr>
            <a:r>
              <a:t>目标：让 Agent 能像人一样理解游戏画面、记住有效策略、在卡住时自我调整</a:t>
            </a:r>
          </a:p>
          <a:p>
            <a:pPr algn="ctr">
              <a:spcAft>
                <a:spcPts val="800"/>
              </a:spcAft>
              <a:defRPr sz="1600" b="0">
                <a:solidFill>
                  <a:srgbClr val="1E2933"/>
                </a:solidFill>
                <a:latin typeface="Microsoft YaHei"/>
              </a:defRPr>
            </a:pPr>
            <a:r>
              <a:t>同时保持每步接近零延迟，不拖累 playable ad 的实时交互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smallgameagent · LLM/VLM + 规则驱动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2/39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37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3F6F9"/>
                </a:solidFill>
                <a:latin typeface="Microsoft YaHei"/>
              </a:defRPr>
            </a:pPr>
            <a:r>
              <a:t>今天聊什么？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64592" cy="5897880"/>
          </a:xfrm>
          <a:prstGeom prst="rect">
            <a:avLst/>
          </a:prstGeom>
          <a:solidFill>
            <a:srgbClr val="FF6B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78992"/>
            <a:ext cx="11548872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0">
                <a:solidFill>
                  <a:srgbClr val="1E2933"/>
                </a:solidFill>
                <a:latin typeface="Microsoft YaHei"/>
              </a:defRPr>
            </a:pPr>
            <a:r>
              <a:t>小游戏 Agent 到底卡在哪几个地方？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1E2933"/>
                </a:solidFill>
                <a:latin typeface="Microsoft YaHei"/>
              </a:defRPr>
            </a:pPr>
            <a:r>
              <a:t>我们的思路：把快执行和慢思考拆开，做三层架构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1E2933"/>
                </a:solidFill>
                <a:latin typeface="Microsoft YaHei"/>
              </a:defRPr>
            </a:pPr>
            <a:r>
              <a:t>怎么接入多家云模型，又怎么在本地跑小 VLM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1E2933"/>
                </a:solidFill>
                <a:latin typeface="Microsoft YaHei"/>
              </a:defRPr>
            </a:pPr>
            <a:r>
              <a:t>规则不是死的：云端模型如何在线更新底层规则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1E2933"/>
                </a:solidFill>
                <a:latin typeface="Microsoft YaHei"/>
              </a:defRPr>
            </a:pPr>
            <a:r>
              <a:t>Agent 之间怎么通信、怎么记东西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1E2933"/>
                </a:solidFill>
                <a:latin typeface="Microsoft YaHei"/>
              </a:defRPr>
            </a:pPr>
            <a:r>
              <a:t>最近实验跑出了什么结果，数据怎么准备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1E2933"/>
                </a:solidFill>
                <a:latin typeface="Microsoft YaHei"/>
              </a:defRPr>
            </a:pPr>
            <a:r>
              <a:t>下一步还想试什么？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smallgameagent · LLM/VLM + 规则驱动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3/39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37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3F6F9"/>
                </a:solidFill>
                <a:latin typeface="Microsoft YaHei"/>
              </a:defRPr>
            </a:pPr>
            <a:r>
              <a:t>项目速览：我们做到了什么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64592" cy="5897880"/>
          </a:xfrm>
          <a:prstGeom prst="rect">
            <a:avLst/>
          </a:prstGeom>
          <a:solidFill>
            <a:srgbClr val="28A7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78992"/>
            <a:ext cx="11548872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1481328"/>
            <a:ext cx="3383280" cy="1828800"/>
          </a:xfrm>
          <a:prstGeom prst="roundRect">
            <a:avLst/>
          </a:prstGeom>
          <a:solidFill>
            <a:srgbClr val="D0D5D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338328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463040"/>
            <a:ext cx="3383280" cy="109728"/>
          </a:xfrm>
          <a:prstGeom prst="rect">
            <a:avLst/>
          </a:prstGeom>
          <a:solidFill>
            <a:srgbClr val="1A237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91640"/>
            <a:ext cx="3383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A237E"/>
                </a:solidFill>
                <a:latin typeface="Microsoft YaHei"/>
              </a:defRPr>
            </a:pPr>
            <a:r>
              <a:t>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3291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6C757D"/>
                </a:solidFill>
                <a:latin typeface="Microsoft YaHei"/>
              </a:defRPr>
            </a:pPr>
            <a:r>
              <a:t>款游戏已可驱动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53127" y="1481328"/>
            <a:ext cx="3383280" cy="1828800"/>
          </a:xfrm>
          <a:prstGeom prst="roundRect">
            <a:avLst/>
          </a:prstGeom>
          <a:solidFill>
            <a:srgbClr val="D0D5D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34840" y="1463040"/>
            <a:ext cx="338328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463040"/>
            <a:ext cx="3383280" cy="109728"/>
          </a:xfrm>
          <a:prstGeom prst="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691640"/>
            <a:ext cx="3383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96C7"/>
                </a:solidFill>
                <a:latin typeface="Microsoft YaHei"/>
              </a:defRPr>
            </a:pPr>
            <a:r>
              <a:t>15,083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2468880"/>
            <a:ext cx="3291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6C757D"/>
                </a:solidFill>
                <a:latin typeface="Microsoft YaHei"/>
              </a:defRPr>
            </a:pPr>
            <a:r>
              <a:t>条 VLM 训练样本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81328"/>
            <a:ext cx="3383280" cy="1828800"/>
          </a:xfrm>
          <a:prstGeom prst="roundRect">
            <a:avLst/>
          </a:prstGeom>
          <a:solidFill>
            <a:srgbClr val="D0D5D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46720" y="1463040"/>
            <a:ext cx="338328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463040"/>
            <a:ext cx="3383280" cy="109728"/>
          </a:xfrm>
          <a:prstGeom prst="rect">
            <a:avLst/>
          </a:prstGeom>
          <a:solidFill>
            <a:srgbClr val="28A7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1691640"/>
            <a:ext cx="3383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8A745"/>
                </a:solidFill>
                <a:latin typeface="Microsoft YaHei"/>
              </a:defRPr>
            </a:pPr>
            <a:r>
              <a:t>0.251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2468880"/>
            <a:ext cx="3291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6C757D"/>
                </a:solidFill>
                <a:latin typeface="Microsoft YaHei"/>
              </a:defRPr>
            </a:pPr>
            <a:r>
              <a:t>rule 基线 mean composite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24328" y="3630168"/>
            <a:ext cx="3383280" cy="1828800"/>
          </a:xfrm>
          <a:prstGeom prst="roundRect">
            <a:avLst/>
          </a:prstGeom>
          <a:solidFill>
            <a:srgbClr val="D0D5D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606040" y="3611880"/>
            <a:ext cx="338328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06040" y="3611880"/>
            <a:ext cx="3383280" cy="109728"/>
          </a:xfrm>
          <a:prstGeom prst="rect">
            <a:avLst/>
          </a:prstGeom>
          <a:solidFill>
            <a:srgbClr val="FF6B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06040" y="3840480"/>
            <a:ext cx="3383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6B35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4617720"/>
            <a:ext cx="3291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6C757D"/>
                </a:solidFill>
                <a:latin typeface="Microsoft YaHei"/>
              </a:defRPr>
            </a:pPr>
            <a:r>
              <a:t>家云端 provider 可用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6207" y="3630168"/>
            <a:ext cx="3383280" cy="1828800"/>
          </a:xfrm>
          <a:prstGeom prst="roundRect">
            <a:avLst/>
          </a:prstGeom>
          <a:solidFill>
            <a:srgbClr val="D0D5D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17920" y="3611880"/>
            <a:ext cx="338328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3611880"/>
            <a:ext cx="3383280" cy="109728"/>
          </a:xfrm>
          <a:prstGeom prst="rect">
            <a:avLst/>
          </a:prstGeom>
          <a:solidFill>
            <a:srgbClr val="1A237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3840480"/>
            <a:ext cx="3383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A237E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4617720"/>
            <a:ext cx="3291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6C757D"/>
                </a:solidFill>
                <a:latin typeface="Microsoft YaHei"/>
              </a:defRPr>
            </a:pPr>
            <a:r>
              <a:t>层架构（L0/L1/L2）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5623560"/>
            <a:ext cx="10607040" cy="640080"/>
          </a:xfrm>
          <a:prstGeom prst="roundRect">
            <a:avLst/>
          </a:prstGeom>
          <a:solidFill>
            <a:srgbClr val="F3F6F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E2933"/>
                </a:solidFill>
                <a:latin typeface="Microsoft YaHei"/>
              </a:defRPr>
            </a:pPr>
            <a:r>
              <a:t>核心思路：用规则打底保证零延迟，云端 API 和本地 VLM 只在必要时出手修正。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smallgameagent · LLM/VLM + 规则驱动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4/39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0" y="-914400"/>
            <a:ext cx="5943600" cy="8686800"/>
          </a:xfrm>
          <a:prstGeom prst="rect">
            <a:avLst/>
          </a:prstGeom>
          <a:solidFill>
            <a:srgbClr val="0096C7">
              <a:lumMod val="80000"/>
              <a:lumOff val="20000"/>
            </a:srgbClr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0" b="1">
                <a:solidFill>
                  <a:srgbClr val="333DA0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3F6F9"/>
                </a:solidFill>
                <a:latin typeface="Microsoft YaHei"/>
              </a:defRPr>
            </a:pPr>
            <a:r>
              <a:t>我们在解决什么问题？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023360"/>
            <a:ext cx="1828800" cy="73152"/>
          </a:xfrm>
          <a:prstGeom prst="rect">
            <a:avLst/>
          </a:prstGeom>
          <a:solidFill>
            <a:srgbClr val="FF6B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smallgameagent · LLM/VLM + 规则驱动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5/39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37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3F6F9"/>
                </a:solidFill>
                <a:latin typeface="Microsoft YaHei"/>
              </a:defRPr>
            </a:pPr>
            <a:r>
              <a:t>小游戏可玩广告，自动化并不 trivial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64592" cy="5897880"/>
          </a:xfrm>
          <a:prstGeom prst="rect">
            <a:avLst/>
          </a:prstGeom>
          <a:solidFill>
            <a:srgbClr val="FF6B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78992"/>
            <a:ext cx="11548872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0">
                <a:solidFill>
                  <a:srgbClr val="1E2933"/>
                </a:solidFill>
                <a:latin typeface="Microsoft YaHei"/>
              </a:defRPr>
            </a:pPr>
            <a:r>
              <a:t>空间一致性：场景随进度变化，云端模型容易记错障碍物位置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1E2933"/>
                </a:solidFill>
                <a:latin typeface="Microsoft YaHei"/>
              </a:defRPr>
            </a:pPr>
            <a:r>
              <a:t>时间一致性：后续策略可能反过来改前面的行为含义，导致推进失败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1E2933"/>
                </a:solidFill>
                <a:latin typeface="Microsoft YaHei"/>
              </a:defRPr>
            </a:pPr>
            <a:r>
              <a:t>策略短视：有钱就升级，而不是攒够再升级，来回跑很多冤枉步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1E2933"/>
                </a:solidFill>
                <a:latin typeface="Microsoft YaHei"/>
              </a:defRPr>
            </a:pPr>
            <a:r>
              <a:t>运行效率：不同游戏后端数据差异大，探针和日志不能一刀切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1E2933"/>
                </a:solidFill>
                <a:latin typeface="Microsoft YaHei"/>
              </a:defRPr>
            </a:pPr>
            <a:r>
              <a:t>API 延迟：纯云端决策太慢，实时控制扛不住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smallgameagent · LLM/VLM + 规则驱动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6/39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0" y="-914400"/>
            <a:ext cx="5943600" cy="8686800"/>
          </a:xfrm>
          <a:prstGeom prst="rect">
            <a:avLst/>
          </a:prstGeom>
          <a:solidFill>
            <a:srgbClr val="0096C7">
              <a:lumMod val="80000"/>
              <a:lumOff val="20000"/>
            </a:srgbClr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0" b="1">
                <a:solidFill>
                  <a:srgbClr val="333DA0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3F6F9"/>
                </a:solidFill>
                <a:latin typeface="Microsoft YaHei"/>
              </a:defRPr>
            </a:pPr>
            <a:r>
              <a:t>三层架构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023360"/>
            <a:ext cx="1828800" cy="73152"/>
          </a:xfrm>
          <a:prstGeom prst="rect">
            <a:avLst/>
          </a:prstGeom>
          <a:solidFill>
            <a:srgbClr val="FF6B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smallgameagent · LLM/VLM + 规则驱动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7/39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37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3F6F9"/>
                </a:solidFill>
                <a:latin typeface="Microsoft YaHei"/>
              </a:defRPr>
            </a:pPr>
            <a:r>
              <a:t>三层架构：规则打底，云端/本地 VLM 做上层更新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64592" cy="5897880"/>
          </a:xfrm>
          <a:prstGeom prst="rect">
            <a:avLst/>
          </a:prstGeom>
          <a:solidFill>
            <a:srgbClr val="1A237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78992"/>
            <a:ext cx="11548872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0" y="1280160"/>
            <a:ext cx="5760720" cy="1234440"/>
          </a:xfrm>
          <a:prstGeom prst="roundRect">
            <a:avLst/>
          </a:prstGeom>
          <a:solidFill>
            <a:srgbClr val="1A237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1389888"/>
            <a:ext cx="5394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3F6F9"/>
                </a:solidFill>
                <a:latin typeface="Microsoft YaHei"/>
              </a:defRPr>
            </a:pPr>
            <a:r>
              <a:t>L2 战略层 · 云端多模态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78308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F3F6F9"/>
                </a:solidFill>
                <a:latin typeface="Microsoft YaHei"/>
              </a:defRPr>
            </a:pPr>
            <a:r>
              <a:t>kimi-k2.7-code / mimo-v2.5 / DeepSeek / Qwen</a:t>
            </a:r>
            <a:br/>
            <a:r>
              <a:t>长程规划 + 规则更新触发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2834640"/>
            <a:ext cx="5760720" cy="1234440"/>
          </a:xfrm>
          <a:prstGeom prst="round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2944368"/>
            <a:ext cx="5394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3F6F9"/>
                </a:solidFill>
                <a:latin typeface="Microsoft YaHei"/>
              </a:defRPr>
            </a:pPr>
            <a:r>
              <a:t>L1 战术层 · 本地小 VLM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33756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F3F6F9"/>
                </a:solidFill>
                <a:latin typeface="Microsoft YaHei"/>
              </a:defRPr>
            </a:pPr>
            <a:r>
              <a:t>qwen3.5-4b / gemma4-e4b（4-bit + KV-cache）</a:t>
            </a:r>
            <a:br/>
            <a:r>
              <a:t>离线标注 + 视觉上下文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4389120"/>
            <a:ext cx="5760720" cy="1234440"/>
          </a:xfrm>
          <a:prstGeom prst="roundRect">
            <a:avLst/>
          </a:prstGeom>
          <a:solidFill>
            <a:srgbClr val="FF6B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4498848"/>
            <a:ext cx="5394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3F6F9"/>
                </a:solidFill>
                <a:latin typeface="Microsoft YaHei"/>
              </a:defRPr>
            </a:pPr>
            <a:r>
              <a:t>L0 执行层 · 规则引擎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89204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F3F6F9"/>
                </a:solidFill>
                <a:latin typeface="Microsoft YaHei"/>
              </a:defRPr>
            </a:pPr>
            <a:r>
              <a:t>tap-guide / tap-only / 障碍学习</a:t>
            </a:r>
            <a:br/>
            <a:r>
              <a:t>零延迟执行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715000" y="2514600"/>
            <a:ext cx="548640" cy="320040"/>
          </a:xfrm>
          <a:prstGeom prst="downArrow">
            <a:avLst/>
          </a:prstGeom>
          <a:solidFill>
            <a:srgbClr val="6C75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wn Arrow 15"/>
          <p:cNvSpPr/>
          <p:nvPr/>
        </p:nvSpPr>
        <p:spPr>
          <a:xfrm>
            <a:off x="5715000" y="4069080"/>
            <a:ext cx="548640" cy="320040"/>
          </a:xfrm>
          <a:prstGeom prst="downArrow">
            <a:avLst/>
          </a:prstGeom>
          <a:solidFill>
            <a:srgbClr val="6C75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93192" y="1399032"/>
            <a:ext cx="2468880" cy="2011680"/>
          </a:xfrm>
          <a:prstGeom prst="roundRect">
            <a:avLst/>
          </a:prstGeom>
          <a:solidFill>
            <a:srgbClr val="D0D5D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65760" y="1371600"/>
            <a:ext cx="24688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1371600"/>
            <a:ext cx="2468880" cy="411480"/>
          </a:xfrm>
          <a:prstGeom prst="rect">
            <a:avLst/>
          </a:prstGeom>
          <a:solidFill>
            <a:srgbClr val="6C75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1444752"/>
            <a:ext cx="23225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3F6F9"/>
                </a:solidFill>
                <a:latin typeface="Microsoft YaHei"/>
              </a:defRPr>
            </a:pPr>
            <a:r>
              <a:t>触发条件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1874519"/>
            <a:ext cx="2249424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composite 连续低于阈值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stall 超过 5 步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L0/L2 决策冲突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世界模型 stale 命中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54311" y="1399032"/>
            <a:ext cx="2468880" cy="2011680"/>
          </a:xfrm>
          <a:prstGeom prst="roundRect">
            <a:avLst/>
          </a:prstGeom>
          <a:solidFill>
            <a:srgbClr val="D0D5D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326880" y="1371600"/>
            <a:ext cx="24688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26880" y="1371600"/>
            <a:ext cx="2468880" cy="411480"/>
          </a:xfrm>
          <a:prstGeom prst="rect">
            <a:avLst/>
          </a:prstGeom>
          <a:solidFill>
            <a:srgbClr val="28A7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00032" y="1444752"/>
            <a:ext cx="23225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3F6F9"/>
                </a:solidFill>
                <a:latin typeface="Microsoft YaHei"/>
              </a:defRPr>
            </a:pPr>
            <a:r>
              <a:t>更新产物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36607" y="1874519"/>
            <a:ext cx="2249424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参数更新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phase contract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strategy memory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（可选）代码片段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86000" y="5806440"/>
            <a:ext cx="7589520" cy="502920"/>
          </a:xfrm>
          <a:prstGeom prst="roundRect">
            <a:avLst/>
          </a:prstGeom>
          <a:solidFill>
            <a:srgbClr val="1E2933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68880" y="5870448"/>
            <a:ext cx="7223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F3F6F9"/>
                </a:solidFill>
                <a:latin typeface="Microsoft YaHei"/>
              </a:defRPr>
            </a:pPr>
            <a:r>
              <a:t>AgentBus · Observer → StateMapper → DecisionAnalyst → Verifier → Critic → MemoryCurator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smallgameagent · LLM/VLM + 规则驱动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8/39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37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3F6F9"/>
                </a:solidFill>
                <a:latin typeface="Microsoft YaHei"/>
              </a:defRPr>
            </a:pPr>
            <a:r>
              <a:t>慢思考 + 快执行，各司其职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64592" cy="5897880"/>
          </a:xfrm>
          <a:prstGeom prst="rect">
            <a:avLst/>
          </a:prstGeom>
          <a:solidFill>
            <a:srgbClr val="FF6B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78992"/>
            <a:ext cx="11548872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0">
                <a:solidFill>
                  <a:srgbClr val="1E2933"/>
                </a:solidFill>
                <a:latin typeface="Microsoft YaHei"/>
              </a:defRPr>
            </a:pPr>
            <a:r>
              <a:t>L0 规则引擎：每步几乎不花时间，负责 move / tap 的零延迟执行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1E2933"/>
                </a:solidFill>
                <a:latin typeface="Microsoft YaHei"/>
              </a:defRPr>
            </a:pPr>
            <a:r>
              <a:t>L1 本地 VLM：看截图判断当前状态，每 N 步或卡住时做战术修正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1E2933"/>
                </a:solidFill>
                <a:latin typeface="Microsoft YaHei"/>
              </a:defRPr>
            </a:pPr>
            <a:r>
              <a:t>L2 云端 API：看 probe state 做长程规划和规则更新，每 M 步或阶段切换触发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1E2933"/>
                </a:solidFill>
                <a:latin typeface="Microsoft YaHei"/>
              </a:defRPr>
            </a:pPr>
            <a:r>
              <a:t>核心思路：把贵且慢的调用摊到多步，单步延迟压到接近 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smallgameagent · LLM/VLM + 规则驱动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9/39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0" y="-914400"/>
            <a:ext cx="5943600" cy="8686800"/>
          </a:xfrm>
          <a:prstGeom prst="rect">
            <a:avLst/>
          </a:prstGeom>
          <a:solidFill>
            <a:srgbClr val="0096C7">
              <a:lumMod val="80000"/>
              <a:lumOff val="20000"/>
            </a:srgbClr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0" b="1">
                <a:solidFill>
                  <a:srgbClr val="333DA0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3F6F9"/>
                </a:solidFill>
                <a:latin typeface="Microsoft YaHei"/>
              </a:defRPr>
            </a:pPr>
            <a:r>
              <a:t>云端多 Provider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023360"/>
            <a:ext cx="1828800" cy="73152"/>
          </a:xfrm>
          <a:prstGeom prst="rect">
            <a:avLst/>
          </a:prstGeom>
          <a:solidFill>
            <a:srgbClr val="FF6B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smallgameagent · LLM/VLM + 规则驱动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10/39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37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3F6F9"/>
                </a:solidFill>
                <a:latin typeface="Microsoft YaHei"/>
              </a:defRPr>
            </a:pPr>
            <a:r>
              <a:t>云端多 Provider 实测状态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64592" cy="5897880"/>
          </a:xfrm>
          <a:prstGeom prst="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78992"/>
            <a:ext cx="11548872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234440"/>
          <a:ext cx="110642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838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Provider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文本模型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视觉模型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Kimi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kimi-k2.7-code / k2.5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kimi-k2.6 / k2.5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✅ 可用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MiMo (xiaomi)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mimo-v2.5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mimo-v2.5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✅ 可用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OpenCodeGo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deepseek-v4-flash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mimo-v2.5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✅ 可用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Qwen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qwen3.7-max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qwen3.7-max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文本 ✅ / 视觉 ⚠️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DeepSeek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deepseek-chat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deepseek-chat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❌ 余额不足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smallgameagent · LLM/VLM + 规则驱动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11/39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37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3F6F9"/>
                </a:solidFill>
                <a:latin typeface="Microsoft YaHei"/>
              </a:defRPr>
            </a:pPr>
            <a:r>
              <a:t>一个客户端，切换多家云模型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64592" cy="5897880"/>
          </a:xfrm>
          <a:prstGeom prst="rect">
            <a:avLst/>
          </a:prstGeom>
          <a:solidFill>
            <a:srgbClr val="FF6B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78992"/>
            <a:ext cx="11548872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0">
                <a:solidFill>
                  <a:srgbClr val="1E2933"/>
                </a:solidFill>
                <a:latin typeface="Microsoft YaHei"/>
              </a:defRPr>
            </a:pPr>
            <a:r>
              <a:t>统一接入 OpenCodeGo / MiMo、Kimi、DeepSeek、Xiaomi、Qwen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1E2933"/>
                </a:solidFill>
                <a:latin typeface="Microsoft YaHei"/>
              </a:defRPr>
            </a:pPr>
            <a:r>
              <a:t>.env 集中管理 key 与 base_url，provider 用 CLOUD_PROVIDER 环境变量切换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1E2933"/>
                </a:solidFill>
                <a:latin typeface="Microsoft YaHei"/>
              </a:defRPr>
            </a:pPr>
            <a:r>
              <a:t>支持 KIMI_TEXT_MODEL / KIMI_VISION_MODEL 等覆盖默认模型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1E2933"/>
                </a:solidFill>
                <a:latin typeface="Microsoft YaHei"/>
              </a:defRPr>
            </a:pPr>
            <a:r>
              <a:t>当前实测可用：Kimi / Xiaomi / OpenCodeGo 文本+多模态；Qwen 文本可用；DeepSeek 余额不足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1E2933"/>
                </a:solidFill>
                <a:latin typeface="Microsoft YaHei"/>
              </a:defRPr>
            </a:pPr>
            <a:r>
              <a:t>Kimi 系列自动省略 temperature，避免代理返回 400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smallgameagent · LLM/VLM + 规则驱动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12/39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0" y="-914400"/>
            <a:ext cx="5943600" cy="8686800"/>
          </a:xfrm>
          <a:prstGeom prst="rect">
            <a:avLst/>
          </a:prstGeom>
          <a:solidFill>
            <a:srgbClr val="0096C7">
              <a:lumMod val="80000"/>
              <a:lumOff val="20000"/>
            </a:srgbClr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0" b="1">
                <a:solidFill>
                  <a:srgbClr val="333DA0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3F6F9"/>
                </a:solidFill>
                <a:latin typeface="Microsoft YaHei"/>
              </a:defRPr>
            </a:pPr>
            <a:r>
              <a:t>规则在线更新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023360"/>
            <a:ext cx="1828800" cy="73152"/>
          </a:xfrm>
          <a:prstGeom prst="rect">
            <a:avLst/>
          </a:prstGeom>
          <a:solidFill>
            <a:srgbClr val="FF6B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smallgameagent · LLM/VLM + 规则驱动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13/39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37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3F6F9"/>
                </a:solidFill>
                <a:latin typeface="Microsoft YaHei"/>
              </a:defRPr>
            </a:pPr>
            <a:r>
              <a:t>规则在线更新：L2 的参数能真正改变 L0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64592" cy="5897880"/>
          </a:xfrm>
          <a:prstGeom prst="rect">
            <a:avLst/>
          </a:prstGeom>
          <a:solidFill>
            <a:srgbClr val="28A7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78992"/>
            <a:ext cx="11548872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3657600" cy="1280160"/>
          </a:xfrm>
          <a:prstGeom prst="roundRect">
            <a:avLst/>
          </a:prstGeom>
          <a:solidFill>
            <a:srgbClr val="1A237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3F6F9"/>
                </a:solidFill>
                <a:latin typeface="Microsoft YaHei"/>
              </a:defRPr>
            </a:pPr>
            <a:r>
              <a:t>L2 云端 API</a:t>
            </a:r>
            <a:br/>
            <a:r>
              <a:t>检测触发条件，输出 param 更新</a:t>
            </a:r>
          </a:p>
        </p:txBody>
      </p:sp>
      <p:sp>
        <p:nvSpPr>
          <p:cNvPr id="7" name="Down Arrow 6"/>
          <p:cNvSpPr/>
          <p:nvPr/>
        </p:nvSpPr>
        <p:spPr>
          <a:xfrm>
            <a:off x="2377440" y="2834640"/>
            <a:ext cx="731520" cy="640080"/>
          </a:xfrm>
          <a:prstGeom prst="downArrow">
            <a:avLst/>
          </a:prstGeom>
          <a:solidFill>
            <a:srgbClr val="6C75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3566160"/>
            <a:ext cx="3657600" cy="914400"/>
          </a:xfrm>
          <a:prstGeom prst="round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3F6F9"/>
                </a:solidFill>
                <a:latin typeface="Microsoft YaHei"/>
              </a:defRPr>
            </a:pPr>
            <a:r>
              <a:t>共享 RuleParameters</a:t>
            </a:r>
            <a:br/>
            <a:r>
              <a:t>coin_save_buffer / stuck_escape_threshold / ...</a:t>
            </a:r>
          </a:p>
        </p:txBody>
      </p:sp>
      <p:sp>
        <p:nvSpPr>
          <p:cNvPr id="9" name="Down Arrow 8"/>
          <p:cNvSpPr/>
          <p:nvPr/>
        </p:nvSpPr>
        <p:spPr>
          <a:xfrm>
            <a:off x="2377440" y="4526280"/>
            <a:ext cx="731520" cy="640080"/>
          </a:xfrm>
          <a:prstGeom prst="downArrow">
            <a:avLst/>
          </a:prstGeom>
          <a:solidFill>
            <a:srgbClr val="6C75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5257800"/>
            <a:ext cx="3657600" cy="1097280"/>
          </a:xfrm>
          <a:prstGeom prst="roundRect">
            <a:avLst/>
          </a:prstGeom>
          <a:solidFill>
            <a:srgbClr val="FF6B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3F6F9"/>
                </a:solidFill>
                <a:latin typeface="Microsoft YaHei"/>
              </a:defRPr>
            </a:pPr>
            <a:r>
              <a:t>L0 规则引擎</a:t>
            </a:r>
            <a:br/>
            <a:r>
              <a:t>每步读取参数，执行 move / tap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71032" y="1490472"/>
            <a:ext cx="5760720" cy="4892040"/>
          </a:xfrm>
          <a:prstGeom prst="roundRect">
            <a:avLst/>
          </a:prstGeom>
          <a:solidFill>
            <a:srgbClr val="D0D5D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43600" y="1463040"/>
            <a:ext cx="576072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0" y="1463040"/>
            <a:ext cx="5760720" cy="411480"/>
          </a:xfrm>
          <a:prstGeom prst="rect">
            <a:avLst/>
          </a:prstGeom>
          <a:solidFill>
            <a:srgbClr val="28A7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16752" y="1536192"/>
            <a:ext cx="56144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3F6F9"/>
                </a:solidFill>
                <a:latin typeface="Microsoft YaHei"/>
              </a:defRPr>
            </a:pPr>
            <a:r>
              <a:t>本次修复的关键点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3328" y="1965960"/>
            <a:ext cx="5541264" cy="429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之前 L2 的 param 更新只停留在 HierarchicalPlanner 内部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RuleEngine 用硬编码默认值，导致更新无效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现在 HybridAgent 创建共享 RuleParameters，同时注入 L2 和 L0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L2 更新 → 共享参数 → L0 即时生效，形成完整闭环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smallgameagent · LLM/VLM + 规则驱动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14/39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37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3F6F9"/>
                </a:solidFill>
                <a:latin typeface="Microsoft YaHei"/>
              </a:defRPr>
            </a:pPr>
            <a:r>
              <a:t>规则更新怎么触发？阈值 + 两层安全门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64592" cy="5897880"/>
          </a:xfrm>
          <a:prstGeom prst="rect">
            <a:avLst/>
          </a:prstGeom>
          <a:solidFill>
            <a:srgbClr val="F4B4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78992"/>
            <a:ext cx="11548872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1353312"/>
            <a:ext cx="5486400" cy="2377440"/>
          </a:xfrm>
          <a:prstGeom prst="roundRect">
            <a:avLst/>
          </a:prstGeom>
          <a:solidFill>
            <a:srgbClr val="D0D5D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54864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325880"/>
            <a:ext cx="5486400" cy="411480"/>
          </a:xfrm>
          <a:prstGeom prst="rect">
            <a:avLst/>
          </a:prstGeom>
          <a:solidFill>
            <a:srgbClr val="FF6B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399032"/>
            <a:ext cx="5340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3F6F9"/>
                </a:solidFill>
                <a:latin typeface="Microsoft YaHei"/>
              </a:defRPr>
            </a:pPr>
            <a:r>
              <a:t>触发条件（满足任一即上报）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828800"/>
            <a:ext cx="526694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composite 连续 N 步低于阈值（默认 0.15）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stall 停滞计数超过阈值（默认 5 步）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L0 与 L2 决策连续 K 步冲突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世界模型检测到空间/时间一致性违例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1353312"/>
            <a:ext cx="5486400" cy="2377440"/>
          </a:xfrm>
          <a:prstGeom prst="roundRect">
            <a:avLst/>
          </a:prstGeom>
          <a:solidFill>
            <a:srgbClr val="D0D5D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55080" y="1325880"/>
            <a:ext cx="54864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325880"/>
            <a:ext cx="5486400" cy="411480"/>
          </a:xfrm>
          <a:prstGeom prst="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1399032"/>
            <a:ext cx="5340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3F6F9"/>
                </a:solidFill>
                <a:latin typeface="Microsoft YaHei"/>
              </a:defRPr>
            </a:pPr>
            <a:r>
              <a:t>L1 本地 VLM 的作用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1828800"/>
            <a:ext cx="526694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每 N 步或卡住时看截图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输出「场景类型 / 关键目标 / 障碍 / UI」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把视觉上下文拼进 L2 prompt，辅助判断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不直接改规则，只提供改规则的证据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3913632"/>
            <a:ext cx="11247120" cy="2286000"/>
          </a:xfrm>
          <a:prstGeom prst="roundRect">
            <a:avLst/>
          </a:prstGeom>
          <a:solidFill>
            <a:srgbClr val="D0D5D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3886200"/>
            <a:ext cx="112471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886200"/>
            <a:ext cx="11247120" cy="411480"/>
          </a:xfrm>
          <a:prstGeom prst="rect">
            <a:avLst/>
          </a:prstGeom>
          <a:solidFill>
            <a:srgbClr val="1A237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3959352"/>
            <a:ext cx="11100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3F6F9"/>
                </a:solidFill>
                <a:latin typeface="Microsoft YaHei"/>
              </a:defRPr>
            </a:pPr>
            <a:r>
              <a:t>更新决策流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4389120"/>
            <a:ext cx="11027664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① 触发器收集信号 → ② L1 补充视觉证据 → ③ L2 输出结构化 JSON（update_type / target / payload / confidence）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④ Applier 安全门：allowlist + 置信度 ≥ 0.9 + patch ≤ 2000 字符 + search 唯一匹配 + 自动备份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⑤ 通过则写入 runtime_rules.json；未通过进待审队列，由人工或更高阈值模型二次确认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⑥ RuleEngine 下一步读取新参数，行为立即改变；重启后配置仍然有效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smallgameagent · LLM/VLM + 规则驱动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15/39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37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3F6F9"/>
                </a:solidFill>
                <a:latin typeface="Microsoft YaHei"/>
              </a:defRPr>
            </a:pPr>
            <a:r>
              <a:t>代码文件级更新：L2 直接调引擎旋钮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64592" cy="5897880"/>
          </a:xfrm>
          <a:prstGeom prst="rect">
            <a:avLst/>
          </a:prstGeom>
          <a:solidFill>
            <a:srgbClr val="28A7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78992"/>
            <a:ext cx="11548872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1353312"/>
            <a:ext cx="5486400" cy="2377440"/>
          </a:xfrm>
          <a:prstGeom prst="roundRect">
            <a:avLst/>
          </a:prstGeom>
          <a:solidFill>
            <a:srgbClr val="D0D5D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54864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325880"/>
            <a:ext cx="5486400" cy="411480"/>
          </a:xfrm>
          <a:prstGeom prst="rect">
            <a:avLst/>
          </a:prstGeom>
          <a:solidFill>
            <a:srgbClr val="28A7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399032"/>
            <a:ext cx="5340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3F6F9"/>
                </a:solidFill>
                <a:latin typeface="Microsoft YaHei"/>
              </a:defRPr>
            </a:pPr>
            <a:r>
              <a:t>安全门设计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828800"/>
            <a:ext cx="526694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白名单：只能改 configs/runtime_rules.json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置信度 ≥ 0.9，patch ≤ 2000 字符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search 块必须唯一匹配，否则进待审队列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修改前自动备份，保留最近 3 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1353312"/>
            <a:ext cx="5486400" cy="2377440"/>
          </a:xfrm>
          <a:prstGeom prst="roundRect">
            <a:avLst/>
          </a:prstGeom>
          <a:solidFill>
            <a:srgbClr val="D0D5D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55080" y="1325880"/>
            <a:ext cx="54864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325880"/>
            <a:ext cx="5486400" cy="411480"/>
          </a:xfrm>
          <a:prstGeom prst="rect">
            <a:avLst/>
          </a:prstGeom>
          <a:solidFill>
            <a:srgbClr val="FF6B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1399032"/>
            <a:ext cx="5340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3F6F9"/>
                </a:solidFill>
                <a:latin typeface="Microsoft YaHei"/>
              </a:defRPr>
            </a:pPr>
            <a:r>
              <a:t>离线实验结果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1828800"/>
            <a:ext cx="526694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游戏：SSD_00461P01，回放 30 步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mock L2 以 0.95 置信度触发更新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stuck_escape_threshold 5 → 3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第 6 步起规则引擎读取到新阈值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实验结束后配置文件自动恢复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94360" y="3977639"/>
          <a:ext cx="110642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Provider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模型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延迟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结果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qwen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qwen3.7-max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7.83s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✅ 应用成功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kimi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kimi-k2.7-code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3.32s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✅ 应用成功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xiaomi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mimo-v2.5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6.18s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✅ 应用成功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opencodego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deepseek-v4-flash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9.08s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YaHei"/>
                        </a:defRPr>
                      </a:pPr>
                      <a:r>
                        <a:t>✅ 应用成功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594360" y="5440680"/>
            <a:ext cx="11064240" cy="502920"/>
          </a:xfrm>
          <a:prstGeom prst="roundRect">
            <a:avLst/>
          </a:prstGeom>
          <a:solidFill>
            <a:srgbClr val="F3F6F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意义：云端模型不仅能改内存参数，还能持久化地调整规则引擎的「旋钮」，且 qwen/kimi/xiaomi/opencodego 四家都能正确生成可应用的 JSON patch。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smallgameagent · LLM/VLM + 规则驱动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16/39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37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3F6F9"/>
                </a:solidFill>
                <a:latin typeface="Microsoft YaHei"/>
              </a:defRPr>
            </a:pPr>
            <a:r>
              <a:t>规则在线更新闭环：从触发到回滚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64592" cy="5897880"/>
          </a:xfrm>
          <a:prstGeom prst="rect">
            <a:avLst/>
          </a:prstGeom>
          <a:solidFill>
            <a:srgbClr val="28A7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78992"/>
            <a:ext cx="11548872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377440" cy="914400"/>
          </a:xfrm>
          <a:prstGeom prst="roundRect">
            <a:avLst/>
          </a:prstGeom>
          <a:solidFill>
            <a:srgbClr val="FF6B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00200"/>
            <a:ext cx="22311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3F6F9"/>
                </a:solidFill>
                <a:latin typeface="Microsoft YaHei"/>
              </a:defRPr>
            </a:pPr>
            <a:r>
              <a:t>L0 Rule Engine</a:t>
            </a:r>
          </a:p>
          <a:p>
            <a:pPr algn="ctr">
              <a:defRPr sz="1200" b="0">
                <a:solidFill>
                  <a:srgbClr val="F3F6F9"/>
                </a:solidFill>
                <a:latin typeface="Microsoft YaHei"/>
              </a:defRPr>
            </a:pPr>
            <a:r>
              <a:t>零延迟执行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1463040"/>
            <a:ext cx="2377440" cy="914400"/>
          </a:xfrm>
          <a:prstGeom prst="roundRect">
            <a:avLst/>
          </a:prstGeom>
          <a:solidFill>
            <a:srgbClr val="F4B4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13632" y="1600200"/>
            <a:ext cx="22311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3F6F9"/>
                </a:solidFill>
                <a:latin typeface="Microsoft YaHei"/>
              </a:defRPr>
            </a:pPr>
            <a:r>
              <a:t>Trigger</a:t>
            </a:r>
          </a:p>
          <a:p>
            <a:pPr algn="ctr">
              <a:defRPr sz="1200" b="0">
                <a:solidFill>
                  <a:srgbClr val="F3F6F9"/>
                </a:solidFill>
                <a:latin typeface="Microsoft YaHei"/>
              </a:defRPr>
            </a:pPr>
            <a:r>
              <a:t>composite / stall / conflict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1463040"/>
            <a:ext cx="2377440" cy="914400"/>
          </a:xfrm>
          <a:prstGeom prst="roundRect">
            <a:avLst/>
          </a:prstGeom>
          <a:solidFill>
            <a:srgbClr val="1A237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22592" y="1600200"/>
            <a:ext cx="22311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3F6F9"/>
                </a:solidFill>
                <a:latin typeface="Microsoft YaHei"/>
              </a:defRPr>
            </a:pPr>
            <a:r>
              <a:t>L2 Cloud API</a:t>
            </a:r>
          </a:p>
          <a:p>
            <a:pPr algn="ctr">
              <a:defRPr sz="1200" b="0">
                <a:solidFill>
                  <a:srgbClr val="F3F6F9"/>
                </a:solidFill>
                <a:latin typeface="Microsoft YaHei"/>
              </a:defRPr>
            </a:pPr>
            <a:r>
              <a:t>结构化 JSON 输出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3108960"/>
            <a:ext cx="2377440" cy="914400"/>
          </a:xfrm>
          <a:prstGeom prst="round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22592" y="3246120"/>
            <a:ext cx="22311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3F6F9"/>
                </a:solidFill>
                <a:latin typeface="Microsoft YaHei"/>
              </a:defRPr>
            </a:pPr>
            <a:r>
              <a:t>Applier</a:t>
            </a:r>
          </a:p>
          <a:p>
            <a:pPr algn="ctr">
              <a:defRPr sz="1200" b="0">
                <a:solidFill>
                  <a:srgbClr val="F3F6F9"/>
                </a:solidFill>
                <a:latin typeface="Microsoft YaHei"/>
              </a:defRPr>
            </a:pPr>
            <a:r>
              <a:t>allowlist + confidence + backup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3108960"/>
            <a:ext cx="2377440" cy="914400"/>
          </a:xfrm>
          <a:prstGeom prst="roundRect">
            <a:avLst/>
          </a:prstGeom>
          <a:solidFill>
            <a:srgbClr val="28A7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13632" y="3246120"/>
            <a:ext cx="22311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3F6F9"/>
                </a:solidFill>
                <a:latin typeface="Microsoft YaHei"/>
              </a:defRPr>
            </a:pPr>
            <a:r>
              <a:t>Watchdog</a:t>
            </a:r>
          </a:p>
          <a:p>
            <a:pPr algn="ctr">
              <a:defRPr sz="1200" b="0">
                <a:solidFill>
                  <a:srgbClr val="F3F6F9"/>
                </a:solidFill>
                <a:latin typeface="Microsoft YaHei"/>
              </a:defRPr>
            </a:pPr>
            <a:r>
              <a:t>baseline vs trial 对比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108960"/>
            <a:ext cx="2377440" cy="914400"/>
          </a:xfrm>
          <a:prstGeom prst="roundRect">
            <a:avLst/>
          </a:prstGeom>
          <a:solidFill>
            <a:srgbClr val="6C75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246120"/>
            <a:ext cx="22311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3F6F9"/>
                </a:solidFill>
                <a:latin typeface="Microsoft YaHei"/>
              </a:defRPr>
            </a:pPr>
            <a:r>
              <a:t>RuleParameters</a:t>
            </a:r>
          </a:p>
          <a:p>
            <a:pPr algn="ctr">
              <a:defRPr sz="1200" b="0">
                <a:solidFill>
                  <a:srgbClr val="F3F6F9"/>
                </a:solidFill>
                <a:latin typeface="Microsoft YaHei"/>
              </a:defRPr>
            </a:pPr>
            <a:r>
              <a:t>内存 + runtime_rules.json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108960" y="1783080"/>
            <a:ext cx="731520" cy="320040"/>
          </a:xfrm>
          <a:prstGeom prst="rightArrow">
            <a:avLst/>
          </a:prstGeom>
          <a:solidFill>
            <a:srgbClr val="6C75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6217920" y="1783080"/>
            <a:ext cx="731520" cy="320040"/>
          </a:xfrm>
          <a:prstGeom prst="rightArrow">
            <a:avLst/>
          </a:prstGeom>
          <a:solidFill>
            <a:srgbClr val="6C75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own Arrow 19"/>
          <p:cNvSpPr/>
          <p:nvPr/>
        </p:nvSpPr>
        <p:spPr>
          <a:xfrm>
            <a:off x="8138160" y="2377440"/>
            <a:ext cx="320040" cy="731520"/>
          </a:xfrm>
          <a:prstGeom prst="downArrow">
            <a:avLst/>
          </a:prstGeom>
          <a:solidFill>
            <a:srgbClr val="6C75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Left Arrow 20"/>
          <p:cNvSpPr/>
          <p:nvPr/>
        </p:nvSpPr>
        <p:spPr>
          <a:xfrm>
            <a:off x="6217920" y="3429000"/>
            <a:ext cx="731520" cy="320040"/>
          </a:xfrm>
          <a:prstGeom prst="leftArrow">
            <a:avLst/>
          </a:prstGeom>
          <a:solidFill>
            <a:srgbClr val="6C75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Left Arrow 21"/>
          <p:cNvSpPr/>
          <p:nvPr/>
        </p:nvSpPr>
        <p:spPr>
          <a:xfrm>
            <a:off x="3108960" y="3429000"/>
            <a:ext cx="731520" cy="320040"/>
          </a:xfrm>
          <a:prstGeom prst="leftArrow">
            <a:avLst/>
          </a:prstGeom>
          <a:solidFill>
            <a:srgbClr val="6C75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Up Arrow 22"/>
          <p:cNvSpPr/>
          <p:nvPr/>
        </p:nvSpPr>
        <p:spPr>
          <a:xfrm>
            <a:off x="1783080" y="2377440"/>
            <a:ext cx="320040" cy="731520"/>
          </a:xfrm>
          <a:prstGeom prst="upArrow">
            <a:avLst/>
          </a:prstGeom>
          <a:solidFill>
            <a:srgbClr val="6C75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4572000"/>
            <a:ext cx="10698480" cy="1463040"/>
          </a:xfrm>
          <a:prstGeom prst="roundRect">
            <a:avLst/>
          </a:prstGeom>
          <a:solidFill>
            <a:srgbClr val="F3F6F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① Trigger 监控 composite / stall / conflict，满足条件时上报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② L2 输出结构化 JSON（param / memory_entry / code_file），Applier 安全门过滤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③ Watchdog 对比更新前后 3 步表现，变差则自动 rollback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④ RuleParameters 同时被 L0 和 Trigger 读取，形成「执行 → 监控 → 更新 → 回滚」闭环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smallgameagent · LLM/VLM + 规则驱动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17/39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37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3F6F9"/>
                </a:solidFill>
                <a:latin typeface="Microsoft YaHei"/>
              </a:defRPr>
            </a:pPr>
            <a:r>
              <a:t>规则不是写死的，触发后才让上层改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64592" cy="5897880"/>
          </a:xfrm>
          <a:prstGeom prst="rect">
            <a:avLst/>
          </a:prstGeom>
          <a:solidFill>
            <a:srgbClr val="FF6B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78992"/>
            <a:ext cx="11548872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0">
                <a:solidFill>
                  <a:srgbClr val="1E2933"/>
                </a:solidFill>
                <a:latin typeface="Microsoft YaHei"/>
              </a:defRPr>
            </a:pPr>
            <a:r>
              <a:t>触发器监控：composite 持续低迷 / stall 计数 / L0-L2 决策冲突 / 世界模型 stale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1E2933"/>
                </a:solidFill>
                <a:latin typeface="Microsoft YaHei"/>
              </a:defRPr>
            </a:pPr>
            <a:r>
              <a:t>L2 输出结构化 JSON：param、memory_entry、phase_contract、code_file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1E2933"/>
                </a:solidFill>
                <a:latin typeface="Microsoft YaHei"/>
              </a:defRPr>
            </a:pPr>
            <a:r>
              <a:t>默认只修改内存参数与 strategy memory，零风险、即时生效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1E2933"/>
                </a:solidFill>
                <a:latin typeface="Microsoft YaHei"/>
              </a:defRPr>
            </a:pPr>
            <a:r>
              <a:t>代码文件改写需 allowlist + 置信度 ≥ 0.9 + 自动备份，没通过就进待审队列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1E2933"/>
                </a:solidFill>
                <a:latin typeface="Microsoft YaHei"/>
              </a:defRPr>
            </a:pPr>
            <a:r>
              <a:t>目标：把「有钱就升级」的短视行为改成「攒够再升级」的长程策略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smallgameagent · LLM/VLM + 规则驱动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18/39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37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3F6F9"/>
                </a:solidFill>
                <a:latin typeface="Microsoft YaHei"/>
              </a:defRPr>
            </a:pPr>
            <a:r>
              <a:t>触发器改进：不再一刀切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64592" cy="5897880"/>
          </a:xfrm>
          <a:prstGeom prst="rect">
            <a:avLst/>
          </a:prstGeom>
          <a:solidFill>
            <a:srgbClr val="FF6B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78992"/>
            <a:ext cx="11548872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0">
                <a:solidFill>
                  <a:srgbClr val="1E2933"/>
                </a:solidFill>
                <a:latin typeface="Microsoft YaHei"/>
              </a:defRPr>
            </a:pPr>
            <a:r>
              <a:t>旧问题：绝对阈值 0.15 在低基线游戏上几乎每 5 步就触发，L2 调用泛滥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1E2933"/>
                </a:solidFill>
                <a:latin typeface="Microsoft YaHei"/>
              </a:defRPr>
            </a:pPr>
            <a:r>
              <a:t>相对下降触发：记录本 run 峰值，下降超过 25% 才触发，避免过度敏感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1E2933"/>
                </a:solidFill>
                <a:latin typeface="Microsoft YaHei"/>
              </a:defRPr>
            </a:pPr>
            <a:r>
              <a:t>硬上限：单 run 最多更新 3 次，防止「越更新越差、越差越更新」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1E2933"/>
                </a:solidFill>
                <a:latin typeface="Microsoft YaHei"/>
              </a:defRPr>
            </a:pPr>
            <a:r>
              <a:t>cooldown 从 5 步提高到 8 步，给每次更新更长的观察窗口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1E2933"/>
                </a:solidFill>
                <a:latin typeface="Microsoft YaHei"/>
              </a:defRPr>
            </a:pPr>
            <a:r>
              <a:t>单元测试验证：peak 0.30 → 0.20 触发（drop 22.2%），max=2 后不再触发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smallgameagent · LLM/VLM + 规则驱动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19/39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37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3F6F9"/>
                </a:solidFill>
                <a:latin typeface="Microsoft YaHei"/>
              </a:defRPr>
            </a:pPr>
            <a:r>
              <a:t>Watchdog 回滚：不止看分数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64592" cy="5897880"/>
          </a:xfrm>
          <a:prstGeom prst="rect">
            <a:avLst/>
          </a:prstGeom>
          <a:solidFill>
            <a:srgbClr val="FF6B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78992"/>
            <a:ext cx="11548872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0">
                <a:solidFill>
                  <a:srgbClr val="1E2933"/>
                </a:solidFill>
                <a:latin typeface="Microsoft YaHei"/>
              </a:defRPr>
            </a:pPr>
            <a:r>
              <a:t>旧版只比较 composite 平均值，小幅参数调整带来的 stall 增加被忽略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1E2933"/>
                </a:solidFill>
                <a:latin typeface="Microsoft YaHei"/>
              </a:defRPr>
            </a:pPr>
            <a:r>
              <a:t>新版三层安全网：composite 下降 / activity 下降 ≥ 0.15 / stall 增加 ≥ 2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1E2933"/>
                </a:solidFill>
                <a:latin typeface="Microsoft YaHei"/>
              </a:defRPr>
            </a:pPr>
            <a:r>
              <a:t>过程指标（stall/activity）恶化往往早于结果指标，提前回滚减少无效步数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1E2933"/>
                </a:solidFill>
                <a:latin typeface="Microsoft YaHei"/>
              </a:defRPr>
            </a:pPr>
            <a:r>
              <a:t>实验验证：stall 从 0 升到 3 时即使 composite 不变也触发回滚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1E2933"/>
                </a:solidFill>
                <a:latin typeface="Microsoft YaHei"/>
              </a:defRPr>
            </a:pPr>
            <a:r>
              <a:t>意义：L2 可以大胆试错，watchdog 负责兜底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smallgameagent · LLM/VLM + 规则驱动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20/39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0" y="-914400"/>
            <a:ext cx="5943600" cy="8686800"/>
          </a:xfrm>
          <a:prstGeom prst="rect">
            <a:avLst/>
          </a:prstGeom>
          <a:solidFill>
            <a:srgbClr val="0096C7">
              <a:lumMod val="80000"/>
              <a:lumOff val="20000"/>
            </a:srgbClr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0" b="1">
                <a:solidFill>
                  <a:srgbClr val="333DA0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3F6F9"/>
                </a:solidFill>
                <a:latin typeface="Microsoft YaHei"/>
              </a:defRPr>
            </a:pPr>
            <a:r>
              <a:t>Agent 通信与记忆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023360"/>
            <a:ext cx="1828800" cy="73152"/>
          </a:xfrm>
          <a:prstGeom prst="rect">
            <a:avLst/>
          </a:prstGeom>
          <a:solidFill>
            <a:srgbClr val="FF6B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smallgameagent · LLM/VLM + 规则驱动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21/39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37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3F6F9"/>
                </a:solidFill>
                <a:latin typeface="Microsoft YaHei"/>
              </a:defRPr>
            </a:pPr>
            <a:r>
              <a:t>Agent 通信与记忆：从单兵到协作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64592" cy="5897880"/>
          </a:xfrm>
          <a:prstGeom prst="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78992"/>
            <a:ext cx="11548872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0352" y="1353312"/>
            <a:ext cx="3657600" cy="2103120"/>
          </a:xfrm>
          <a:prstGeom prst="roundRect">
            <a:avLst/>
          </a:prstGeom>
          <a:solidFill>
            <a:srgbClr val="D0D5D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36576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3657600" cy="411480"/>
          </a:xfrm>
          <a:prstGeom prst="rect">
            <a:avLst/>
          </a:prstGeom>
          <a:solidFill>
            <a:srgbClr val="1A237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399032"/>
            <a:ext cx="35112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3F6F9"/>
                </a:solidFill>
                <a:latin typeface="Microsoft YaHei"/>
              </a:defRPr>
            </a:pPr>
            <a:r>
              <a:t>记忆三层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828800"/>
            <a:ext cx="343814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Episodic：逐步 state / action / reward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Semantic：游戏类型、目标语义向量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Procedural：成功策略、失败模式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62272" y="1353312"/>
            <a:ext cx="3657600" cy="2103120"/>
          </a:xfrm>
          <a:prstGeom prst="roundRect">
            <a:avLst/>
          </a:prstGeom>
          <a:solidFill>
            <a:srgbClr val="D0D5D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34840" y="1325880"/>
            <a:ext cx="36576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325880"/>
            <a:ext cx="3657600" cy="411480"/>
          </a:xfrm>
          <a:prstGeom prst="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399032"/>
            <a:ext cx="35112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3F6F9"/>
                </a:solidFill>
                <a:latin typeface="Microsoft YaHei"/>
              </a:defRPr>
            </a:pPr>
            <a:r>
              <a:t>AgentBus 消息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1828800"/>
            <a:ext cx="343814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OBSERVATION / STATE_UPDATE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DECISION_PROPOSAL / CRITIQUE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RULE_UPDATE / MEMORY_WRITE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94192" y="1353312"/>
            <a:ext cx="3657600" cy="2103120"/>
          </a:xfrm>
          <a:prstGeom prst="roundRect">
            <a:avLst/>
          </a:prstGeom>
          <a:solidFill>
            <a:srgbClr val="D0D5D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6760" y="1325880"/>
            <a:ext cx="36576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66760" y="1325880"/>
            <a:ext cx="3657600" cy="411480"/>
          </a:xfrm>
          <a:prstGeom prst="rect">
            <a:avLst/>
          </a:prstGeom>
          <a:solidFill>
            <a:srgbClr val="FF6B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9912" y="1399032"/>
            <a:ext cx="35112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3F6F9"/>
                </a:solidFill>
                <a:latin typeface="Microsoft YaHei"/>
              </a:defRPr>
            </a:pPr>
            <a:r>
              <a:t>协作流程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6488" y="1828800"/>
            <a:ext cx="343814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Observer 采集 probe 状态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DecisionAnalyst 生成候选动作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Critic 评估一致性风险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MemoryCurator 归档有用模式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657600"/>
            <a:ext cx="11430000" cy="1005840"/>
          </a:xfrm>
          <a:prstGeom prst="roundRect">
            <a:avLst/>
          </a:prstGeom>
          <a:solidFill>
            <a:srgbClr val="F3F6F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E2933"/>
                </a:solidFill>
                <a:latin typeface="Microsoft YaHei"/>
              </a:defRPr>
            </a:pPr>
            <a:r>
              <a:t>核心思路：不要把所有决策压给一个模型。让云端 API 做长程规划，本地 VLM 做画面理解，规则引擎做零延迟执行，记忆层负责跨 episode 复用。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smallgameagent · LLM/VLM + 规则驱动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22/39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37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3F6F9"/>
                </a:solidFill>
                <a:latin typeface="Microsoft YaHei"/>
              </a:defRPr>
            </a:pPr>
            <a:r>
              <a:t>通信与记忆的设计取舍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64592" cy="5897880"/>
          </a:xfrm>
          <a:prstGeom prst="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78992"/>
            <a:ext cx="11548872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1353312"/>
            <a:ext cx="5486400" cy="4937760"/>
          </a:xfrm>
          <a:prstGeom prst="roundRect">
            <a:avLst/>
          </a:prstGeom>
          <a:solidFill>
            <a:srgbClr val="D0D5D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54864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325880"/>
            <a:ext cx="5486400" cy="411480"/>
          </a:xfrm>
          <a:prstGeom prst="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399032"/>
            <a:ext cx="5340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3F6F9"/>
                </a:solidFill>
                <a:latin typeface="Microsoft YaHei"/>
              </a:defRPr>
            </a:pPr>
            <a:r>
              <a:t>记忆读回的优势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828800"/>
            <a:ext cx="5266944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00461 multi-bus-memory 0.106 → 0.300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00736 multi-bus-memory 0.269 → 0.300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跨 episode 复用成功模式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减少重复探索带来的 stall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1353312"/>
            <a:ext cx="5486400" cy="4937760"/>
          </a:xfrm>
          <a:prstGeom prst="roundRect">
            <a:avLst/>
          </a:prstGeom>
          <a:solidFill>
            <a:srgbClr val="D0D5D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55080" y="1325880"/>
            <a:ext cx="54864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325880"/>
            <a:ext cx="5486400" cy="411480"/>
          </a:xfrm>
          <a:prstGeom prst="rect">
            <a:avLst/>
          </a:prstGeom>
          <a:solidFill>
            <a:srgbClr val="FF6B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1399032"/>
            <a:ext cx="5340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3F6F9"/>
                </a:solidFill>
                <a:latin typeface="Microsoft YaHei"/>
              </a:defRPr>
            </a:pPr>
            <a:r>
              <a:t>仍需解决的问题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1828800"/>
            <a:ext cx="5266944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00483 / 00517 multi-bus activity=0：driver 不匹配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strategy_memory 需要预热，冷启动时可能反噬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多 Agent 冲突时需要更严格的仲裁机制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smallgameagent · LLM/VLM + 规则驱动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23/39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0" y="-914400"/>
            <a:ext cx="5943600" cy="8686800"/>
          </a:xfrm>
          <a:prstGeom prst="rect">
            <a:avLst/>
          </a:prstGeom>
          <a:solidFill>
            <a:srgbClr val="0096C7">
              <a:lumMod val="80000"/>
              <a:lumOff val="20000"/>
            </a:srgbClr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0" b="1">
                <a:solidFill>
                  <a:srgbClr val="333DA0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3F6F9"/>
                </a:solidFill>
                <a:latin typeface="Microsoft YaHei"/>
              </a:defRPr>
            </a:pPr>
            <a:r>
              <a:t>本地 VLM：把 8 GB 显存用到极限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023360"/>
            <a:ext cx="1828800" cy="73152"/>
          </a:xfrm>
          <a:prstGeom prst="rect">
            <a:avLst/>
          </a:prstGeom>
          <a:solidFill>
            <a:srgbClr val="FF6B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smallgameagent · LLM/VLM + 规则驱动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24/39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37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3F6F9"/>
                </a:solidFill>
                <a:latin typeface="Microsoft YaHei"/>
              </a:defRPr>
            </a:pPr>
            <a:r>
              <a:t>本地 VLM：8 GB 显存上的画面理解层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64592" cy="5897880"/>
          </a:xfrm>
          <a:prstGeom prst="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78992"/>
            <a:ext cx="11548872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1353312"/>
            <a:ext cx="5486400" cy="2560320"/>
          </a:xfrm>
          <a:prstGeom prst="roundRect">
            <a:avLst/>
          </a:prstGeom>
          <a:solidFill>
            <a:srgbClr val="D0D5D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54864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325880"/>
            <a:ext cx="5486400" cy="411480"/>
          </a:xfrm>
          <a:prstGeom prst="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399032"/>
            <a:ext cx="5340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3F6F9"/>
                </a:solidFill>
                <a:latin typeface="Microsoft YaHei"/>
              </a:defRPr>
            </a:pPr>
            <a:r>
              <a:t>当前能跑通什么？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828800"/>
            <a:ext cx="526694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4-bit 量化加载 Qwen3.5-4B/9B、Gemma-4-E4B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KV-cache 量化进一步压低显存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RTX 5060 8GB 上 Qwen3.5-4B 约 7s/帧，Gemma-4-E4B 约 7.8s/帧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Gemma-4-E4B 视觉摘要比 Qwen3.5-4B 更稳定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1353312"/>
            <a:ext cx="5486400" cy="2560320"/>
          </a:xfrm>
          <a:prstGeom prst="roundRect">
            <a:avLst/>
          </a:prstGeom>
          <a:solidFill>
            <a:srgbClr val="D0D5D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55080" y="1325880"/>
            <a:ext cx="54864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325880"/>
            <a:ext cx="5486400" cy="411480"/>
          </a:xfrm>
          <a:prstGeom prst="rect">
            <a:avLst/>
          </a:prstGeom>
          <a:solidFill>
            <a:srgbClr val="FF6B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1399032"/>
            <a:ext cx="5340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3F6F9"/>
                </a:solidFill>
                <a:latin typeface="Microsoft YaHei"/>
              </a:defRPr>
            </a:pPr>
            <a:r>
              <a:t>视觉上下文有没有用？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1828800"/>
            <a:ext cx="526694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Qwen3.5-4B：text-only 5/9，with-visual 3/9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Gemma-4-E4B：text-only 3/9，with-visual 5/9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说明模型选对很重要，视觉摘要能帮云端纠偏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下一步：QLoRA 微调，输出结构化视觉上下文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069080"/>
            <a:ext cx="11247120" cy="1645920"/>
          </a:xfrm>
          <a:prstGeom prst="roundRect">
            <a:avLst/>
          </a:prstGeom>
          <a:solidFill>
            <a:srgbClr val="F3F6F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  <a:defRPr sz="1300" b="0">
                <a:solidFill>
                  <a:srgbClr val="1E2933"/>
                </a:solidFill>
                <a:latin typeface="Microsoft YaHei"/>
              </a:defRPr>
            </a:pPr>
            <a:r>
              <a:t>结论：本地 VLM 可以跑，但默认模型还不足以稳定提升云端策略质量。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1E2933"/>
                </a:solidFill>
                <a:latin typeface="Microsoft YaHei"/>
              </a:defRPr>
            </a:pPr>
            <a:r>
              <a:t>方向：用 15,083 条 processed-runs 样本做 QLoRA 微调，让模型学会输出「箭头方向 + 关键目标 + 障碍物」的结构化上下文。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1E2933"/>
                </a:solidFill>
                <a:latin typeface="Microsoft YaHei"/>
              </a:defRPr>
            </a:pPr>
            <a:r>
              <a:t>部署：微调后通过 llama.cpp server 常驻，L1 每 N 步或卡住时提供视觉证据。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smallgameagent · LLM/VLM + 规则驱动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25/39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0" y="-914400"/>
            <a:ext cx="5943600" cy="8686800"/>
          </a:xfrm>
          <a:prstGeom prst="rect">
            <a:avLst/>
          </a:prstGeom>
          <a:solidFill>
            <a:srgbClr val="0096C7">
              <a:lumMod val="80000"/>
              <a:lumOff val="20000"/>
            </a:srgbClr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0" b="1">
                <a:solidFill>
                  <a:srgbClr val="333DA0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3F6F9"/>
                </a:solidFill>
                <a:latin typeface="Microsoft YaHei"/>
              </a:defRPr>
            </a:pPr>
            <a:r>
              <a:t>实验结果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023360"/>
            <a:ext cx="1828800" cy="73152"/>
          </a:xfrm>
          <a:prstGeom prst="rect">
            <a:avLst/>
          </a:prstGeom>
          <a:solidFill>
            <a:srgbClr val="FF6B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smallgameagent · LLM/VLM + 规则驱动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26/39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37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3F6F9"/>
                </a:solidFill>
                <a:latin typeface="Microsoft YaHei"/>
              </a:defRPr>
            </a:pPr>
            <a:r>
              <a:t>离线回放：rule 基线 vs 在线规则更新（5 款游戏）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64592" cy="5897880"/>
          </a:xfrm>
          <a:prstGeom prst="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78992"/>
            <a:ext cx="11548872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234440"/>
          <a:ext cx="110642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838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游戏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rule composite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hierarchical(mock)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rule updates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00461 塔防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0.241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0.241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00219 养牛卖奶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0.300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0.300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38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00332 圣诞薅羊毛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0.300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0.283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00342 建造合并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0.300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0.297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35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00382 低坑杀鲨鱼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0.300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0.286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smallgameagent · LLM/VLM + 规则驱动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27/39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37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3F6F9"/>
                </a:solidFill>
                <a:latin typeface="Microsoft YaHei"/>
              </a:defRPr>
            </a:pPr>
            <a:r>
              <a:t>Qwen L2 真实云端：SSD_00461P01（29 步）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64592" cy="5897880"/>
          </a:xfrm>
          <a:prstGeom prst="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78992"/>
            <a:ext cx="11548872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234440"/>
          <a:ext cx="110642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838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数值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type_match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10/29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action_match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7/29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composite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0.246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mean_latency_ms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3728.6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rule_update_count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smallgameagent · LLM/VLM + 规则驱动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28/39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37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3F6F9"/>
                </a:solidFill>
                <a:latin typeface="Microsoft YaHei"/>
              </a:defRPr>
            </a:pPr>
            <a:r>
              <a:t>关键发现：什么有效，什么还需打磨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64592" cy="5897880"/>
          </a:xfrm>
          <a:prstGeom prst="rect">
            <a:avLst/>
          </a:prstGeom>
          <a:solidFill>
            <a:srgbClr val="28A7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78992"/>
            <a:ext cx="11548872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1188720" cy="384048"/>
          </a:xfrm>
          <a:prstGeom prst="roundRect">
            <a:avLst/>
          </a:prstGeom>
          <a:solidFill>
            <a:srgbClr val="28A7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3F6F9"/>
                </a:solidFill>
                <a:latin typeface="Microsoft YaHei"/>
              </a:defRPr>
            </a:pPr>
            <a:r>
              <a:t>✅ 有效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325880"/>
            <a:ext cx="9601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1E2933"/>
                </a:solidFill>
                <a:latin typeface="Microsoft YaHei"/>
              </a:defRPr>
            </a:pPr>
            <a:r>
              <a:t>rule 在 6 游戏 representative subset 上 mean composite=0.251，仍是当前最稳短程基线。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03120"/>
            <a:ext cx="1188720" cy="384048"/>
          </a:xfrm>
          <a:prstGeom prst="roundRect">
            <a:avLst/>
          </a:prstGeom>
          <a:solidFill>
            <a:srgbClr val="28A7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3F6F9"/>
                </a:solidFill>
                <a:latin typeface="Microsoft YaHei"/>
              </a:defRPr>
            </a:pPr>
            <a:r>
              <a:t>✅ 有效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103120"/>
            <a:ext cx="9601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1E2933"/>
                </a:solidFill>
                <a:latin typeface="Microsoft YaHei"/>
              </a:defRPr>
            </a:pPr>
            <a:r>
              <a:t>multi-bus-memory 在 tap-only 游戏上接近 rule（0.296 vs 0.300），记忆读回对无 joystick 场景有价值。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880360"/>
            <a:ext cx="1188720" cy="384048"/>
          </a:xfrm>
          <a:prstGeom prst="roundRect">
            <a:avLst/>
          </a:prstGeom>
          <a:solidFill>
            <a:srgbClr val="28A7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3F6F9"/>
                </a:solidFill>
                <a:latin typeface="Microsoft YaHei"/>
              </a:defRPr>
            </a:pPr>
            <a:r>
              <a:t>✅ 有效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880360"/>
            <a:ext cx="9601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1E2933"/>
                </a:solidFill>
                <a:latin typeface="Microsoft YaHei"/>
              </a:defRPr>
            </a:pPr>
            <a:r>
              <a:t>L2 code-file 更新在 qwen/kimi/xiaomi/opencodego 均成功，云端模型确实能改持久化规则旋钮。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657600"/>
            <a:ext cx="1188720" cy="384048"/>
          </a:xfrm>
          <a:prstGeom prst="roundRect">
            <a:avLst/>
          </a:prstGeom>
          <a:solidFill>
            <a:srgbClr val="28A7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3F6F9"/>
                </a:solidFill>
                <a:latin typeface="Microsoft YaHei"/>
              </a:defRPr>
            </a:pPr>
            <a:r>
              <a:t>✅ 已修复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657600"/>
            <a:ext cx="9601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1E2933"/>
                </a:solidFill>
                <a:latin typeface="Microsoft YaHei"/>
              </a:defRPr>
            </a:pPr>
            <a:r>
              <a:t>00483 multi-bus activity=0：根因是 strategy_memory 在线自强化，session 隔离后 multi-bus-memory 0.200、activity 0.333。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434840"/>
            <a:ext cx="1188720" cy="384048"/>
          </a:xfrm>
          <a:prstGeom prst="roundRect">
            <a:avLst/>
          </a:prstGeom>
          <a:solidFill>
            <a:srgbClr val="F4B4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3F6F9"/>
                </a:solidFill>
                <a:latin typeface="Microsoft YaHei"/>
              </a:defRPr>
            </a:pPr>
            <a:r>
              <a:t>⚠️ 待优化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4434840"/>
            <a:ext cx="9601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1E2933"/>
                </a:solidFill>
                <a:latin typeface="Microsoft YaHei"/>
              </a:defRPr>
            </a:pPr>
            <a:r>
              <a:t>multi-bus 在需要 joystick 的 A 组明显弱于 rule（mean 0.110），需要更强的 driver/Verifier 循环。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212080"/>
            <a:ext cx="1188720" cy="384048"/>
          </a:xfrm>
          <a:prstGeom prst="round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3F6F9"/>
                </a:solidFill>
                <a:latin typeface="Microsoft YaHei"/>
              </a:defRPr>
            </a:pPr>
            <a:r>
              <a:t>📌 方向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5212080"/>
            <a:ext cx="9601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1E2933"/>
                </a:solidFill>
                <a:latin typeface="Microsoft YaHei"/>
              </a:defRPr>
            </a:pPr>
            <a:r>
              <a:t>把云端放在 L2 做规划与规则更新，L0 规则负责执行，L1 VLM 只做视觉证据。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smallgameagent · LLM/VLM + 规则驱动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29/39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37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3F6F9"/>
                </a:solidFill>
                <a:latin typeface="Microsoft YaHei"/>
              </a:defRPr>
            </a:pPr>
            <a:r>
              <a:t>Representative Subset：6 游戏在线跑测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64592" cy="5897880"/>
          </a:xfrm>
          <a:prstGeom prst="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78992"/>
            <a:ext cx="11548872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32588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627017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3F6F9"/>
                          </a:solidFill>
                        </a:defRPr>
                      </a:pPr>
                      <a:r>
                        <a:t>游戏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3F6F9"/>
                          </a:solidFill>
                        </a:defRPr>
                      </a:pPr>
                      <a:r>
                        <a:t>类型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3F6F9"/>
                          </a:solidFill>
                        </a:defRPr>
                      </a:pPr>
                      <a:r>
                        <a:t>rule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3F6F9"/>
                          </a:solidFill>
                        </a:defRPr>
                      </a:pPr>
                      <a:r>
                        <a:t>multi-bus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3F6F9"/>
                          </a:solidFill>
                        </a:defRPr>
                      </a:pPr>
                      <a:r>
                        <a:t>multi-bus-memory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3"/>
                          </a:solidFill>
                        </a:defRPr>
                      </a:pPr>
                      <a:r>
                        <a:t>SSD_00461P01 塔防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3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3"/>
                          </a:solidFill>
                        </a:defRPr>
                      </a:pPr>
                      <a:r>
                        <a:t>0.149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3"/>
                          </a:solidFill>
                        </a:defRPr>
                      </a:pPr>
                      <a:r>
                        <a:t>0.050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3"/>
                          </a:solidFill>
                        </a:defRPr>
                      </a:pPr>
                      <a:r>
                        <a:t>0.044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3"/>
                          </a:solidFill>
                        </a:defRPr>
                      </a:pPr>
                      <a:r>
                        <a:t>SSD_00483P01 吸沙抽水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3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3"/>
                          </a:solidFill>
                        </a:defRPr>
                      </a:pPr>
                      <a:r>
                        <a:t>0.244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3"/>
                          </a:solidFill>
                        </a:defRPr>
                      </a:pPr>
                      <a:r>
                        <a:t>0.103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3"/>
                          </a:solidFill>
                        </a:defRPr>
                      </a:pPr>
                      <a:r>
                        <a:t>0.200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3"/>
                          </a:solidFill>
                        </a:defRPr>
                      </a:pPr>
                      <a:r>
                        <a:t>SSD_00522P02 地下炸矿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3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3"/>
                          </a:solidFill>
                        </a:defRPr>
                      </a:pPr>
                      <a:r>
                        <a:t>0.215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3"/>
                          </a:solidFill>
                        </a:defRPr>
                      </a:pPr>
                      <a:r>
                        <a:t>0.178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3"/>
                          </a:solidFill>
                        </a:defRPr>
                      </a:pPr>
                      <a:r>
                        <a:t>0.178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3"/>
                          </a:solidFill>
                        </a:defRPr>
                      </a:pPr>
                      <a:r>
                        <a:t>SSD_00382P01 低坑杀鲨鱼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3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3"/>
                          </a:solidFill>
                        </a:defRPr>
                      </a:pPr>
                      <a:r>
                        <a:t>0.300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3"/>
                          </a:solidFill>
                        </a:defRPr>
                      </a:pPr>
                      <a:r>
                        <a:t>0.288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3"/>
                          </a:solidFill>
                        </a:defRPr>
                      </a:pPr>
                      <a:r>
                        <a:t>SSD_00594P02 破石收水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3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3"/>
                          </a:solidFill>
                        </a:defRPr>
                      </a:pPr>
                      <a:r>
                        <a:t>0.300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3"/>
                          </a:solidFill>
                        </a:defRPr>
                      </a:pPr>
                      <a:r>
                        <a:t>0.300</a:t>
                      </a:r>
                    </a:p>
                  </a:txBody>
                  <a:tcPr/>
                </a:tc>
              </a:tr>
              <a:tr h="62701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3"/>
                          </a:solidFill>
                        </a:defRPr>
                      </a:pPr>
                      <a:r>
                        <a:t>SSD_00742P01 加油小镇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3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3"/>
                          </a:solidFill>
                        </a:defRPr>
                      </a:pPr>
                      <a:r>
                        <a:t>0.300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3"/>
                          </a:solidFill>
                        </a:defRPr>
                      </a:pPr>
                      <a:r>
                        <a:t>0.300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94360" y="5806440"/>
            <a:ext cx="11247120" cy="640080"/>
          </a:xfrm>
          <a:prstGeom prst="roundRect">
            <a:avLst/>
          </a:prstGeom>
          <a:solidFill>
            <a:srgbClr val="F3F6F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1E2933"/>
                </a:solidFill>
                <a:latin typeface="Microsoft YaHei"/>
              </a:defRPr>
            </a:pPr>
            <a:r>
              <a:t>15 runs 全部成功。rule mean composite=0.251 仍是最稳基线；multi-bus-memory 在 tap-only 游戏接近 rule（0.296 vs 0.300）。session 隔离让 00483 从 activity=0 恢复到 0.333。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smallgameagent · LLM/VLM + 规则驱动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30/39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37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3F6F9"/>
                </a:solidFill>
                <a:latin typeface="Microsoft YaHei"/>
              </a:defRPr>
            </a:pPr>
            <a:r>
              <a:t>规划变体对比：长 horizon 收益最大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64592" cy="5897880"/>
          </a:xfrm>
          <a:prstGeom prst="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78992"/>
            <a:ext cx="11548872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27632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0">
                <a:solidFill>
                  <a:srgbClr val="1E2933"/>
                </a:solidFill>
                <a:latin typeface="Microsoft YaHei"/>
              </a:defRPr>
            </a:pPr>
            <a:r>
              <a:t>rule 基线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554480"/>
            <a:ext cx="7772400" cy="502920"/>
          </a:xfrm>
          <a:prstGeom prst="rect">
            <a:avLst/>
          </a:prstGeom>
          <a:solidFill>
            <a:srgbClr val="F3F6F9"/>
          </a:solidFill>
          <a:ln w="12700">
            <a:solidFill>
              <a:srgbClr val="E1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26080" y="1554480"/>
            <a:ext cx="3350768" cy="502920"/>
          </a:xfrm>
          <a:prstGeom prst="rect">
            <a:avLst/>
          </a:prstGeom>
          <a:solidFill>
            <a:srgbClr val="6C75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68288" y="1627632"/>
            <a:ext cx="914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C757D"/>
                </a:solidFill>
                <a:latin typeface="Microsoft YaHei"/>
              </a:defRPr>
            </a:pPr>
            <a:r>
              <a:t>0.194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59152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0">
                <a:solidFill>
                  <a:srgbClr val="1E2933"/>
                </a:solidFill>
                <a:latin typeface="Microsoft YaHei"/>
              </a:defRPr>
            </a:pPr>
            <a:r>
              <a:t>beam_2step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2286000"/>
            <a:ext cx="7772400" cy="502920"/>
          </a:xfrm>
          <a:prstGeom prst="rect">
            <a:avLst/>
          </a:prstGeom>
          <a:solidFill>
            <a:srgbClr val="F3F6F9"/>
          </a:solidFill>
          <a:ln w="12700">
            <a:solidFill>
              <a:srgbClr val="E1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0" y="2286000"/>
            <a:ext cx="4387087" cy="502920"/>
          </a:xfrm>
          <a:prstGeom prst="rect">
            <a:avLst/>
          </a:prstGeom>
          <a:solidFill>
            <a:srgbClr val="F4B4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4607" y="2359152"/>
            <a:ext cx="914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4B400"/>
                </a:solidFill>
                <a:latin typeface="Microsoft YaHei"/>
              </a:defRPr>
            </a:pPr>
            <a:r>
              <a:t>0.254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090672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0">
                <a:solidFill>
                  <a:srgbClr val="1E2933"/>
                </a:solidFill>
                <a:latin typeface="Microsoft YaHei"/>
              </a:defRPr>
            </a:pPr>
            <a:r>
              <a:t>hierarchical_mock_5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3017520"/>
            <a:ext cx="7772400" cy="502920"/>
          </a:xfrm>
          <a:prstGeom prst="rect">
            <a:avLst/>
          </a:prstGeom>
          <a:solidFill>
            <a:srgbClr val="F3F6F9"/>
          </a:solidFill>
          <a:ln w="12700">
            <a:solidFill>
              <a:srgbClr val="E1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6080" y="3017520"/>
            <a:ext cx="5665216" cy="502920"/>
          </a:xfrm>
          <a:prstGeom prst="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2736" y="3090672"/>
            <a:ext cx="914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0096C7"/>
                </a:solidFill>
                <a:latin typeface="Microsoft YaHei"/>
              </a:defRPr>
            </a:pPr>
            <a:r>
              <a:t>0.328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822192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0">
                <a:solidFill>
                  <a:srgbClr val="1E2933"/>
                </a:solidFill>
                <a:latin typeface="Microsoft YaHei"/>
              </a:defRPr>
            </a:pPr>
            <a:r>
              <a:t>hierarchical_short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3749040"/>
            <a:ext cx="7772400" cy="502920"/>
          </a:xfrm>
          <a:prstGeom prst="rect">
            <a:avLst/>
          </a:prstGeom>
          <a:solidFill>
            <a:srgbClr val="F3F6F9"/>
          </a:solidFill>
          <a:ln w="12700">
            <a:solidFill>
              <a:srgbClr val="E1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26080" y="3749040"/>
            <a:ext cx="5665216" cy="502920"/>
          </a:xfrm>
          <a:prstGeom prst="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2736" y="3822192"/>
            <a:ext cx="914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0096C7"/>
                </a:solidFill>
                <a:latin typeface="Microsoft YaHei"/>
              </a:defRPr>
            </a:pPr>
            <a:r>
              <a:t>0.328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553712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0">
                <a:solidFill>
                  <a:srgbClr val="1E2933"/>
                </a:solidFill>
                <a:latin typeface="Microsoft YaHei"/>
              </a:defRPr>
            </a:pPr>
            <a:r>
              <a:t>hierarchical_mock_15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6080" y="4480560"/>
            <a:ext cx="7772400" cy="502920"/>
          </a:xfrm>
          <a:prstGeom prst="rect">
            <a:avLst/>
          </a:prstGeom>
          <a:solidFill>
            <a:srgbClr val="F3F6F9"/>
          </a:solidFill>
          <a:ln w="12700">
            <a:solidFill>
              <a:srgbClr val="E1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26080" y="4480560"/>
            <a:ext cx="5147056" cy="502920"/>
          </a:xfrm>
          <a:prstGeom prst="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64576" y="4553712"/>
            <a:ext cx="914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0096C7"/>
                </a:solidFill>
                <a:latin typeface="Microsoft YaHei"/>
              </a:defRPr>
            </a:pPr>
            <a:r>
              <a:t>0.298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285232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0">
                <a:solidFill>
                  <a:srgbClr val="1E2933"/>
                </a:solidFill>
                <a:latin typeface="Microsoft YaHei"/>
              </a:defRPr>
            </a:pPr>
            <a:r>
              <a:t>hierarchical_long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6080" y="5212080"/>
            <a:ext cx="7772400" cy="502920"/>
          </a:xfrm>
          <a:prstGeom prst="rect">
            <a:avLst/>
          </a:prstGeom>
          <a:solidFill>
            <a:srgbClr val="F3F6F9"/>
          </a:solidFill>
          <a:ln w="12700">
            <a:solidFill>
              <a:srgbClr val="E1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926080" y="5212080"/>
            <a:ext cx="6701536" cy="502920"/>
          </a:xfrm>
          <a:prstGeom prst="rect">
            <a:avLst/>
          </a:prstGeom>
          <a:solidFill>
            <a:srgbClr val="28A7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19056" y="5285232"/>
            <a:ext cx="914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8A745"/>
                </a:solidFill>
                <a:latin typeface="Microsoft YaHei"/>
              </a:defRPr>
            </a:pPr>
            <a:r>
              <a:t>0.388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486400"/>
            <a:ext cx="11247120" cy="731520"/>
          </a:xfrm>
          <a:prstGeom prst="roundRect">
            <a:avLst/>
          </a:prstGeom>
          <a:solidFill>
            <a:srgbClr val="F3F6F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1E2933"/>
                </a:solidFill>
                <a:latin typeface="Microsoft YaHei"/>
              </a:defRPr>
            </a:pPr>
            <a:r>
              <a:t>SSD_00461P01 · type_match rate · hierarchical_long（8 意图）比 rule 提升 +100%，比 beam search 提升 +53%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smallgameagent · LLM/VLM + 规则驱动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31/39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0" y="-914400"/>
            <a:ext cx="5943600" cy="8686800"/>
          </a:xfrm>
          <a:prstGeom prst="rect">
            <a:avLst/>
          </a:prstGeom>
          <a:solidFill>
            <a:srgbClr val="0096C7">
              <a:lumMod val="80000"/>
              <a:lumOff val="20000"/>
            </a:srgbClr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0" b="1">
                <a:solidFill>
                  <a:srgbClr val="333DA0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3F6F9"/>
                </a:solidFill>
                <a:latin typeface="Microsoft YaHei"/>
              </a:defRPr>
            </a:pPr>
            <a:r>
              <a:t>训练数据管线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023360"/>
            <a:ext cx="1828800" cy="73152"/>
          </a:xfrm>
          <a:prstGeom prst="rect">
            <a:avLst/>
          </a:prstGeom>
          <a:solidFill>
            <a:srgbClr val="FF6B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smallgameagent · LLM/VLM + 规则驱动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32/39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37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3F6F9"/>
                </a:solidFill>
                <a:latin typeface="Microsoft YaHei"/>
              </a:defRPr>
            </a:pPr>
            <a:r>
              <a:t>跑过的轨迹 = 可复用的训练数据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64592" cy="5897880"/>
          </a:xfrm>
          <a:prstGeom prst="rect">
            <a:avLst/>
          </a:prstGeom>
          <a:solidFill>
            <a:srgbClr val="FF6B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78992"/>
            <a:ext cx="11548872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0">
                <a:solidFill>
                  <a:srgbClr val="1E2933"/>
                </a:solidFill>
                <a:latin typeface="Microsoft YaHei"/>
              </a:defRPr>
            </a:pPr>
            <a:r>
              <a:t>batch_runner 每步记录 state / action / keyNumbers / reason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1E2933"/>
                </a:solidFill>
                <a:latin typeface="Microsoft YaHei"/>
              </a:defRPr>
            </a:pPr>
            <a:r>
              <a:t>processed_runs_converter 从 22 个游戏的 processed-runs 生成 7 任务样本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1E2933"/>
                </a:solidFill>
                <a:latin typeface="Microsoft YaHei"/>
              </a:defRPr>
            </a:pPr>
            <a:r>
              <a:t>当前数据集：15,083 条样本，覆盖 next_probe_action / information_gain_judgment 等任务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1E2933"/>
                </a:solidFill>
                <a:latin typeface="Microsoft YaHei"/>
              </a:defRPr>
            </a:pPr>
            <a:r>
              <a:t>可直接喂给 Qwen3.5-4B/9B 与 Gemma-4-E4B 的 QLoRA 微调脚本（在 5090 服务器执行）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smallgameagent · LLM/VLM + 规则驱动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33/39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37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3F6F9"/>
                </a:solidFill>
                <a:latin typeface="Microsoft YaHei"/>
              </a:defRPr>
            </a:pPr>
            <a:r>
              <a:t>游戏覆盖矩阵：22 款游戏已可驱动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64592" cy="5897880"/>
          </a:xfrm>
          <a:prstGeom prst="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78992"/>
            <a:ext cx="11548872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1106424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554480"/>
            <a:ext cx="1645920" cy="411480"/>
          </a:xfrm>
          <a:prstGeom prst="roundRect">
            <a:avLst/>
          </a:prstGeom>
          <a:solidFill>
            <a:srgbClr val="1A237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3F6F9"/>
                </a:solidFill>
                <a:latin typeface="Microsoft YaHei"/>
              </a:defRPr>
            </a:pPr>
            <a:r>
              <a:t>A 类 joystick · 7 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1E2933"/>
                </a:solidFill>
                <a:latin typeface="Microsoft YaHei"/>
              </a:defRPr>
            </a:pPr>
            <a:r>
              <a:t>00440 / 00461 / 00483 / 00496 / 00517 / 00522 / 00736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566160"/>
            <a:ext cx="1106424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3749039"/>
            <a:ext cx="1645920" cy="411480"/>
          </a:xfrm>
          <a:prstGeom prst="round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3F6F9"/>
                </a:solidFill>
                <a:latin typeface="Microsoft YaHei"/>
              </a:defRPr>
            </a:pPr>
            <a:r>
              <a:t>B 类 tap-only · 15 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519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1E2933"/>
                </a:solidFill>
                <a:latin typeface="Microsoft YaHei"/>
              </a:defRPr>
            </a:pPr>
            <a:r>
              <a:t>00219 / 00332 / 00342 / 00382 / 00394 / 00427 / 00434 / 00475 / 00482 / 00526 / 00532 / 00594 / 00669 / 00733 / 00742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smallgameagent · LLM/VLM + 规则驱动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34/39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0" y="-914400"/>
            <a:ext cx="5943600" cy="8686800"/>
          </a:xfrm>
          <a:prstGeom prst="rect">
            <a:avLst/>
          </a:prstGeom>
          <a:solidFill>
            <a:srgbClr val="0096C7">
              <a:lumMod val="80000"/>
              <a:lumOff val="20000"/>
            </a:srgbClr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0" b="1">
                <a:solidFill>
                  <a:srgbClr val="333DA0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3F6F9"/>
                </a:solidFill>
                <a:latin typeface="Microsoft YaHei"/>
              </a:defRPr>
            </a:pPr>
            <a:r>
              <a:t>路线图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023360"/>
            <a:ext cx="1828800" cy="73152"/>
          </a:xfrm>
          <a:prstGeom prst="rect">
            <a:avLst/>
          </a:prstGeom>
          <a:solidFill>
            <a:srgbClr val="FF6B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smallgameagent · LLM/VLM + 规则驱动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35/39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37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3F6F9"/>
                </a:solidFill>
                <a:latin typeface="Microsoft YaHei"/>
              </a:defRPr>
            </a:pPr>
            <a:r>
              <a:t>技术路线图：从能跑到好用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64592" cy="5897880"/>
          </a:xfrm>
          <a:prstGeom prst="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78992"/>
            <a:ext cx="11548872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3200400"/>
            <a:ext cx="10972800" cy="73152"/>
          </a:xfrm>
          <a:prstGeom prst="rect">
            <a:avLst/>
          </a:prstGeom>
          <a:solidFill>
            <a:srgbClr val="6C75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3063240"/>
            <a:ext cx="320040" cy="320040"/>
          </a:xfrm>
          <a:prstGeom prst="ellipse">
            <a:avLst/>
          </a:prstGeom>
          <a:solidFill>
            <a:srgbClr val="28A7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210312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8A745"/>
                </a:solidFill>
                <a:latin typeface="Microsoft YaHei"/>
              </a:defRPr>
            </a:pPr>
            <a:r>
              <a:t>已完成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39" y="3474720"/>
            <a:ext cx="21945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规则引擎 + 自动校准</a:t>
            </a:r>
            <a:br/>
            <a:r>
              <a:t>22 游戏可驱动</a:t>
            </a:r>
          </a:p>
        </p:txBody>
      </p:sp>
      <p:sp>
        <p:nvSpPr>
          <p:cNvPr id="10" name="Oval 9"/>
          <p:cNvSpPr/>
          <p:nvPr/>
        </p:nvSpPr>
        <p:spPr>
          <a:xfrm>
            <a:off x="3108960" y="3063240"/>
            <a:ext cx="320040" cy="320040"/>
          </a:xfrm>
          <a:prstGeom prst="ellipse">
            <a:avLst/>
          </a:prstGeom>
          <a:solidFill>
            <a:srgbClr val="28A7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39" y="210312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8A745"/>
                </a:solidFill>
                <a:latin typeface="Microsoft YaHei"/>
              </a:defRPr>
            </a:pPr>
            <a:r>
              <a:t>已完成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39" y="3474720"/>
            <a:ext cx="21945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multi-bus-memory</a:t>
            </a:r>
            <a:br/>
            <a:r>
              <a:t>记忆读回 0.300</a:t>
            </a:r>
          </a:p>
        </p:txBody>
      </p:sp>
      <p:sp>
        <p:nvSpPr>
          <p:cNvPr id="13" name="Oval 12"/>
          <p:cNvSpPr/>
          <p:nvPr/>
        </p:nvSpPr>
        <p:spPr>
          <a:xfrm>
            <a:off x="5394960" y="3063240"/>
            <a:ext cx="320040" cy="320040"/>
          </a:xfrm>
          <a:prstGeom prst="ellipse">
            <a:avLst/>
          </a:prstGeom>
          <a:solidFill>
            <a:srgbClr val="28A7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210312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8A745"/>
                </a:solidFill>
                <a:latin typeface="Microsoft YaHei"/>
              </a:defRPr>
            </a:pPr>
            <a:r>
              <a:t>已完成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474720"/>
            <a:ext cx="21945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L2 code-file 更新</a:t>
            </a:r>
            <a:br/>
            <a:r>
              <a:t>qwen/kimi/xiaomi/opencodego 验证</a:t>
            </a:r>
          </a:p>
        </p:txBody>
      </p:sp>
      <p:sp>
        <p:nvSpPr>
          <p:cNvPr id="16" name="Oval 15"/>
          <p:cNvSpPr/>
          <p:nvPr/>
        </p:nvSpPr>
        <p:spPr>
          <a:xfrm>
            <a:off x="7680960" y="3063240"/>
            <a:ext cx="320040" cy="320040"/>
          </a:xfrm>
          <a:prstGeom prst="ellipse">
            <a:avLst/>
          </a:prstGeom>
          <a:solidFill>
            <a:srgbClr val="FF6B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78040" y="210312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6B35"/>
                </a:solidFill>
                <a:latin typeface="Microsoft YaHei"/>
              </a:defRPr>
            </a:pPr>
            <a:r>
              <a:t>进行中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474720"/>
            <a:ext cx="21945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本地 VLM 上下文</a:t>
            </a:r>
            <a:br/>
            <a:r>
              <a:t>QLoRA 微调准备</a:t>
            </a:r>
          </a:p>
        </p:txBody>
      </p:sp>
      <p:sp>
        <p:nvSpPr>
          <p:cNvPr id="19" name="Oval 18"/>
          <p:cNvSpPr/>
          <p:nvPr/>
        </p:nvSpPr>
        <p:spPr>
          <a:xfrm>
            <a:off x="9966960" y="3063240"/>
            <a:ext cx="320040" cy="320040"/>
          </a:xfrm>
          <a:prstGeom prst="ellipse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64040" y="210312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096C7"/>
                </a:solidFill>
                <a:latin typeface="Microsoft YaHei"/>
              </a:defRPr>
            </a:pPr>
            <a:r>
              <a:t>下一步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474720"/>
            <a:ext cx="21945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1E2933"/>
                </a:solidFill>
                <a:latin typeface="Microsoft YaHei"/>
              </a:defRPr>
            </a:pPr>
            <a:r>
              <a:t>真实游戏在线触发</a:t>
            </a:r>
            <a:br/>
            <a:r>
              <a:t>规则更新 + A/B 回归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074920"/>
            <a:ext cx="10972800" cy="822960"/>
          </a:xfrm>
          <a:prstGeom prst="roundRect">
            <a:avLst/>
          </a:prstGeom>
          <a:solidFill>
            <a:srgbClr val="F3F6F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E2933"/>
                </a:solidFill>
                <a:latin typeface="Microsoft YaHei"/>
              </a:defRPr>
            </a:pPr>
            <a:r>
              <a:t>核心原则：把贵且慢的云端调用摊到多步，本地 VLM 只提供「证据」，规则引擎负责零延迟执行。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smallgameagent · LLM/VLM + 规则驱动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36/39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0" y="-914400"/>
            <a:ext cx="5943600" cy="8686800"/>
          </a:xfrm>
          <a:prstGeom prst="rect">
            <a:avLst/>
          </a:prstGeom>
          <a:solidFill>
            <a:srgbClr val="0096C7">
              <a:lumMod val="80000"/>
              <a:lumOff val="20000"/>
            </a:srgbClr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0" b="1">
                <a:solidFill>
                  <a:srgbClr val="333DA0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3F6F9"/>
                </a:solidFill>
                <a:latin typeface="Microsoft YaHei"/>
              </a:defRPr>
            </a:pPr>
            <a:r>
              <a:t>下一步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023360"/>
            <a:ext cx="1828800" cy="73152"/>
          </a:xfrm>
          <a:prstGeom prst="rect">
            <a:avLst/>
          </a:prstGeom>
          <a:solidFill>
            <a:srgbClr val="FF6B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smallgameagent · LLM/VLM + 规则驱动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37/39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37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3F6F9"/>
                </a:solidFill>
                <a:latin typeface="Microsoft YaHei"/>
              </a:defRPr>
            </a:pPr>
            <a:r>
              <a:t>下一步：把实验变成稳定系统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64592" cy="5897880"/>
          </a:xfrm>
          <a:prstGeom prst="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78992"/>
            <a:ext cx="11548872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0">
                <a:solidFill>
                  <a:srgbClr val="1E2933"/>
                </a:solidFill>
                <a:latin typeface="Microsoft YaHei"/>
              </a:defRPr>
            </a:pPr>
            <a:r>
              <a:t>  在真实游戏运行中触发 code-file 更新，验证动态 stall/composite 下 L2 的决策质量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1E2933"/>
                </a:solidFill>
                <a:latin typeface="Microsoft YaHei"/>
              </a:defRPr>
            </a:pPr>
            <a:r>
              <a:t>  把 runtime_rules.json 的 schema 写进 L2 prompt，约束可改字段与取值范围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1E2933"/>
                </a:solidFill>
                <a:latin typeface="Microsoft YaHei"/>
              </a:defRPr>
            </a:pPr>
            <a:r>
              <a:t>  让本地 VLM 常驻，验证 L1 战术修正对 joystick 游戏的实际收益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1E2933"/>
                </a:solidFill>
                <a:latin typeface="Microsoft YaHei"/>
              </a:defRPr>
            </a:pPr>
            <a:r>
              <a:t>  在 5090 服务器跑 QLoRA 微调，把本地 VLM 训练成专用画面理解器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1E2933"/>
                </a:solidFill>
                <a:latin typeface="Microsoft YaHei"/>
              </a:defRPr>
            </a:pPr>
            <a:r>
              <a:t>  把离线回放接入 CI：每次规则改动自动跑 5 游戏回归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1E2933"/>
                </a:solidFill>
                <a:latin typeface="Microsoft YaHei"/>
              </a:defRPr>
            </a:pPr>
            <a:r>
              <a:t>  探索 Agent 间更严格的仲裁：Critic 对 L0/L2 冲突做最终决策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1E2933"/>
                </a:solidFill>
                <a:latin typeface="Microsoft YaHei"/>
              </a:defRPr>
            </a:pPr>
            <a:r>
              <a:t>   redesign strategy_memory 的 success 信号：结合位置变化、guide 触发、stall 减少</a:t>
            </a:r>
          </a:p>
        </p:txBody>
      </p:sp>
      <p:sp>
        <p:nvSpPr>
          <p:cNvPr id="7" name="Oval 6"/>
          <p:cNvSpPr/>
          <p:nvPr/>
        </p:nvSpPr>
        <p:spPr>
          <a:xfrm>
            <a:off x="45720" y="0"/>
            <a:ext cx="137160" cy="137160"/>
          </a:xfrm>
          <a:prstGeom prst="ellipse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" y="0"/>
            <a:ext cx="137160" cy="137160"/>
          </a:xfrm>
          <a:prstGeom prst="ellipse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720" y="0"/>
            <a:ext cx="137160" cy="137160"/>
          </a:xfrm>
          <a:prstGeom prst="ellipse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" y="0"/>
            <a:ext cx="137160" cy="137160"/>
          </a:xfrm>
          <a:prstGeom prst="ellipse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" y="0"/>
            <a:ext cx="137160" cy="137160"/>
          </a:xfrm>
          <a:prstGeom prst="ellipse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20" y="0"/>
            <a:ext cx="137160" cy="137160"/>
          </a:xfrm>
          <a:prstGeom prst="ellipse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720" y="0"/>
            <a:ext cx="137160" cy="137160"/>
          </a:xfrm>
          <a:prstGeom prst="ellipse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smallgameagent · LLM/VLM + 规则驱动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38/39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914400"/>
            <a:ext cx="1371600" cy="1371600"/>
          </a:xfrm>
          <a:prstGeom prst="ellipse">
            <a:avLst/>
          </a:prstGeom>
          <a:solidFill>
            <a:srgbClr val="0096C7">
              <a:lumMod val="70000"/>
              <a:lumOff val="30000"/>
            </a:srgbClr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1371600"/>
            <a:ext cx="1371600" cy="1371600"/>
          </a:xfrm>
          <a:prstGeom prst="ellipse">
            <a:avLst/>
          </a:prstGeom>
          <a:solidFill>
            <a:srgbClr val="0096C7">
              <a:lumMod val="70000"/>
              <a:lumOff val="30000"/>
            </a:srgbClr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24160" y="1828800"/>
            <a:ext cx="1371600" cy="1371600"/>
          </a:xfrm>
          <a:prstGeom prst="ellipse">
            <a:avLst/>
          </a:prstGeom>
          <a:solidFill>
            <a:srgbClr val="0096C7">
              <a:lumMod val="70000"/>
              <a:lumOff val="30000"/>
            </a:srgbClr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112471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3F6F9"/>
                </a:solidFill>
                <a:latin typeface="Microsoft YaHei"/>
              </a:defRPr>
            </a:pPr>
            <a:r>
              <a:t>谢谢，欢迎讨论</a:t>
            </a:r>
          </a:p>
        </p:txBody>
      </p:sp>
      <p:sp>
        <p:nvSpPr>
          <p:cNvPr id="7" name="Rectangle 6"/>
          <p:cNvSpPr/>
          <p:nvPr/>
        </p:nvSpPr>
        <p:spPr>
          <a:xfrm>
            <a:off x="5184648" y="3931920"/>
            <a:ext cx="1828800" cy="73152"/>
          </a:xfrm>
          <a:prstGeom prst="rect">
            <a:avLst/>
          </a:prstGeom>
          <a:solidFill>
            <a:srgbClr val="FF6B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0096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smallgameagent · LLM/VLM + 规则驱动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C757D"/>
                </a:solidFill>
                <a:latin typeface="Microsoft YaHei"/>
              </a:defRPr>
            </a:pPr>
            <a:r>
              <a:t>39/39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