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237E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120640"/>
            <a:ext cx="12191695" cy="1737360"/>
          </a:xfrm>
          <a:prstGeom prst="rect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114800" y="5029200"/>
            <a:ext cx="3959352" cy="45720"/>
          </a:xfrm>
          <a:prstGeom prst="rect">
            <a:avLst/>
          </a:prstGeom>
          <a:solidFill>
            <a:srgbClr val="FF6B35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011680"/>
            <a:ext cx="11247120" cy="1280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800" b="1">
                <a:solidFill>
                  <a:srgbClr val="F3F6F9"/>
                </a:solidFill>
                <a:latin typeface="Microsoft YaHei"/>
              </a:defRPr>
            </a:pPr>
            <a:r>
              <a:t>smallgameagent 实验进展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474720"/>
            <a:ext cx="112471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 b="0">
                <a:solidFill>
                  <a:srgbClr val="F3F6F9"/>
                </a:solidFill>
                <a:latin typeface="Microsoft YaHei"/>
              </a:defRPr>
            </a:pPr>
            <a:r>
              <a:t>LLM/VLM + 规则驱动的小游戏 Agent</a:t>
            </a:r>
            <a:br/>
            <a:r>
              <a:t>多 Provider、在线规则更新与批量数据管线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623560"/>
            <a:ext cx="112471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 b="1">
                <a:solidFill>
                  <a:srgbClr val="F3F6F9"/>
                </a:solidFill>
                <a:latin typeface="Microsoft YaHei"/>
              </a:defRPr>
            </a:pPr>
            <a:r>
              <a:t>smallgameagent 项目组 · 分层多 Agent + 在线规则更新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A237E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12471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000" b="1">
                <a:solidFill>
                  <a:srgbClr val="F3F6F9"/>
                </a:solidFill>
                <a:latin typeface="Microsoft YaHei"/>
              </a:defRPr>
            </a:pPr>
            <a:r>
              <a:t>今天聊什么？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34440"/>
            <a:ext cx="110642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  <a:defRPr sz="1800" b="0">
                <a:solidFill>
                  <a:srgbClr val="1E2933"/>
                </a:solidFill>
                <a:latin typeface="Microsoft YaHei"/>
              </a:defRPr>
            </a:pPr>
            <a:r>
              <a:t>小游戏 Agent 到底卡在哪几个地方？</a:t>
            </a:r>
          </a:p>
          <a:p>
            <a:pPr algn="l">
              <a:spcAft>
                <a:spcPts val="1000"/>
              </a:spcAft>
              <a:defRPr sz="1800" b="0">
                <a:solidFill>
                  <a:srgbClr val="1E2933"/>
                </a:solidFill>
                <a:latin typeface="Microsoft YaHei"/>
              </a:defRPr>
            </a:pPr>
            <a:r>
              <a:t>我们的思路：把快执行和慢思考拆开，做三层架构</a:t>
            </a:r>
          </a:p>
          <a:p>
            <a:pPr algn="l">
              <a:spcAft>
                <a:spcPts val="1000"/>
              </a:spcAft>
              <a:defRPr sz="1800" b="0">
                <a:solidFill>
                  <a:srgbClr val="1E2933"/>
                </a:solidFill>
                <a:latin typeface="Microsoft YaHei"/>
              </a:defRPr>
            </a:pPr>
            <a:r>
              <a:t>怎么接入多家云模型，又怎么在本地跑小 VLM</a:t>
            </a:r>
          </a:p>
          <a:p>
            <a:pPr algn="l">
              <a:spcAft>
                <a:spcPts val="1000"/>
              </a:spcAft>
              <a:defRPr sz="1800" b="0">
                <a:solidFill>
                  <a:srgbClr val="1E2933"/>
                </a:solidFill>
                <a:latin typeface="Microsoft YaHei"/>
              </a:defRPr>
            </a:pPr>
            <a:r>
              <a:t>规则不是死的：云端模型如何在线更新底层规则</a:t>
            </a:r>
          </a:p>
          <a:p>
            <a:pPr algn="l">
              <a:spcAft>
                <a:spcPts val="1000"/>
              </a:spcAft>
              <a:defRPr sz="1800" b="0">
                <a:solidFill>
                  <a:srgbClr val="1E2933"/>
                </a:solidFill>
                <a:latin typeface="Microsoft YaHei"/>
              </a:defRPr>
            </a:pPr>
            <a:r>
              <a:t>Agent 之间怎么通信、怎么记东西</a:t>
            </a:r>
          </a:p>
          <a:p>
            <a:pPr algn="l">
              <a:spcAft>
                <a:spcPts val="1000"/>
              </a:spcAft>
              <a:defRPr sz="1800" b="0">
                <a:solidFill>
                  <a:srgbClr val="1E2933"/>
                </a:solidFill>
                <a:latin typeface="Microsoft YaHei"/>
              </a:defRPr>
            </a:pPr>
            <a:r>
              <a:t>最近实验跑出了什么结果，数据怎么准备</a:t>
            </a:r>
          </a:p>
          <a:p>
            <a:pPr algn="l">
              <a:spcAft>
                <a:spcPts val="1000"/>
              </a:spcAft>
              <a:defRPr sz="1800" b="0">
                <a:solidFill>
                  <a:srgbClr val="1E2933"/>
                </a:solidFill>
                <a:latin typeface="Microsoft YaHei"/>
              </a:defRPr>
            </a:pPr>
            <a:r>
              <a:t>下一步还想试什么？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37960"/>
            <a:ext cx="12191695" cy="18288"/>
          </a:xfrm>
          <a:prstGeom prst="rect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583680"/>
            <a:ext cx="3657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smallgameagent · LLM/VLM + 规则驱动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583680"/>
            <a:ext cx="914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2/28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237E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468880"/>
            <a:ext cx="1106424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4400" b="1">
                <a:solidFill>
                  <a:srgbClr val="F3F6F9"/>
                </a:solidFill>
                <a:latin typeface="Microsoft YaHei"/>
              </a:defRPr>
            </a:pPr>
            <a:r>
              <a:t>01 我们在解决什么问题？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3657600"/>
            <a:ext cx="1828800" cy="73152"/>
          </a:xfrm>
          <a:prstGeom prst="rect">
            <a:avLst/>
          </a:prstGeom>
          <a:solidFill>
            <a:srgbClr val="FF6B35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537960"/>
            <a:ext cx="12191695" cy="18288"/>
          </a:xfrm>
          <a:prstGeom prst="rect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583680"/>
            <a:ext cx="3657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smallgameagent · LLM/VLM + 规则驱动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583680"/>
            <a:ext cx="914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3/28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A237E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12471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000" b="1">
                <a:solidFill>
                  <a:srgbClr val="F3F6F9"/>
                </a:solidFill>
                <a:latin typeface="Microsoft YaHei"/>
              </a:defRPr>
            </a:pPr>
            <a:r>
              <a:t>小游戏可玩广告，自动化并不 trivial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34440"/>
            <a:ext cx="110642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  <a:defRPr sz="1800" b="0">
                <a:solidFill>
                  <a:srgbClr val="1E2933"/>
                </a:solidFill>
                <a:latin typeface="Microsoft YaHei"/>
              </a:defRPr>
            </a:pPr>
            <a:r>
              <a:t>空间一致性：场景会随着进度变化，云端模型容易记错障碍物位置</a:t>
            </a:r>
          </a:p>
          <a:p>
            <a:pPr algn="l">
              <a:spcAft>
                <a:spcPts val="1000"/>
              </a:spcAft>
              <a:defRPr sz="1800" b="0">
                <a:solidFill>
                  <a:srgbClr val="1E2933"/>
                </a:solidFill>
                <a:latin typeface="Microsoft YaHei"/>
              </a:defRPr>
            </a:pPr>
            <a:r>
              <a:t>时间一致性：后面的策略可能反过来改前面的行为含义，导致推进失败</a:t>
            </a:r>
          </a:p>
          <a:p>
            <a:pPr algn="l">
              <a:spcAft>
                <a:spcPts val="1000"/>
              </a:spcAft>
              <a:defRPr sz="1800" b="0">
                <a:solidFill>
                  <a:srgbClr val="1E2933"/>
                </a:solidFill>
                <a:latin typeface="Microsoft YaHei"/>
              </a:defRPr>
            </a:pPr>
            <a:r>
              <a:t>策略短视：有钱就升级，而不是攒够再升级，来回跑很多步</a:t>
            </a:r>
          </a:p>
          <a:p>
            <a:pPr algn="l">
              <a:spcAft>
                <a:spcPts val="1000"/>
              </a:spcAft>
              <a:defRPr sz="1800" b="0">
                <a:solidFill>
                  <a:srgbClr val="1E2933"/>
                </a:solidFill>
                <a:latin typeface="Microsoft YaHei"/>
              </a:defRPr>
            </a:pPr>
            <a:r>
              <a:t>运行效率：不同游戏后端数据差异大，探针和日志不能一刀切</a:t>
            </a:r>
          </a:p>
          <a:p>
            <a:pPr algn="l">
              <a:spcAft>
                <a:spcPts val="1000"/>
              </a:spcAft>
              <a:defRPr sz="1800" b="0">
                <a:solidFill>
                  <a:srgbClr val="1E2933"/>
                </a:solidFill>
                <a:latin typeface="Microsoft YaHei"/>
              </a:defRPr>
            </a:pPr>
            <a:r>
              <a:t>API 延迟：纯云端决策太慢，实时控制扛不住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37960"/>
            <a:ext cx="12191695" cy="18288"/>
          </a:xfrm>
          <a:prstGeom prst="rect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583680"/>
            <a:ext cx="3657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smallgameagent · LLM/VLM + 规则驱动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583680"/>
            <a:ext cx="914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4/28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237E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468880"/>
            <a:ext cx="1106424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4400" b="1">
                <a:solidFill>
                  <a:srgbClr val="F3F6F9"/>
                </a:solidFill>
                <a:latin typeface="Microsoft YaHei"/>
              </a:defRPr>
            </a:pPr>
            <a:r>
              <a:t>02 三层架构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3657600"/>
            <a:ext cx="1828800" cy="73152"/>
          </a:xfrm>
          <a:prstGeom prst="rect">
            <a:avLst/>
          </a:prstGeom>
          <a:solidFill>
            <a:srgbClr val="FF6B35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537960"/>
            <a:ext cx="12191695" cy="18288"/>
          </a:xfrm>
          <a:prstGeom prst="rect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583680"/>
            <a:ext cx="3657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smallgameagent · LLM/VLM + 规则驱动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583680"/>
            <a:ext cx="914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5/28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A237E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12471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000" b="1">
                <a:solidFill>
                  <a:srgbClr val="F3F6F9"/>
                </a:solidFill>
                <a:latin typeface="Microsoft YaHei"/>
              </a:defRPr>
            </a:pPr>
            <a:r>
              <a:t>三层架构：规则打底，云端/本地 VLM 做上层更新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200400" y="1280160"/>
            <a:ext cx="5760720" cy="1234440"/>
          </a:xfrm>
          <a:prstGeom prst="roundRect">
            <a:avLst/>
          </a:prstGeom>
          <a:solidFill>
            <a:srgbClr val="1A237E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383280" y="1389888"/>
            <a:ext cx="539496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 b="1">
                <a:solidFill>
                  <a:srgbClr val="F3F6F9"/>
                </a:solidFill>
                <a:latin typeface="Microsoft YaHei"/>
              </a:defRPr>
            </a:pPr>
            <a:r>
              <a:t>L2 战略层 · 云端多模态 API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383280" y="1783080"/>
            <a:ext cx="539496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0">
                <a:solidFill>
                  <a:srgbClr val="F3F6F9"/>
                </a:solidFill>
                <a:latin typeface="Microsoft YaHei"/>
              </a:defRPr>
            </a:pPr>
            <a:r>
              <a:t>kimi-k2.7-code / mimo-v2.5 / DeepSeek / Qwen</a:t>
            </a:r>
            <a:br/>
            <a:r>
              <a:t>长程规划 + 规则更新触发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200400" y="2834640"/>
            <a:ext cx="5760720" cy="1234440"/>
          </a:xfrm>
          <a:prstGeom prst="roundRect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383280" y="2944368"/>
            <a:ext cx="539496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 b="1">
                <a:solidFill>
                  <a:srgbClr val="F3F6F9"/>
                </a:solidFill>
                <a:latin typeface="Microsoft YaHei"/>
              </a:defRPr>
            </a:pPr>
            <a:r>
              <a:t>L1 战术层 · 本地小 VLM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383280" y="3337560"/>
            <a:ext cx="539496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0">
                <a:solidFill>
                  <a:srgbClr val="F3F6F9"/>
                </a:solidFill>
                <a:latin typeface="Microsoft YaHei"/>
              </a:defRPr>
            </a:pPr>
            <a:r>
              <a:t>qwen3.5-4b / gemma4-e4b（4-bit + KV-cache）</a:t>
            </a:r>
            <a:br/>
            <a:r>
              <a:t>离线标注 + 视觉上下文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00400" y="4389120"/>
            <a:ext cx="5760720" cy="1234440"/>
          </a:xfrm>
          <a:prstGeom prst="roundRect">
            <a:avLst/>
          </a:prstGeom>
          <a:solidFill>
            <a:srgbClr val="FF6B35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383280" y="4498848"/>
            <a:ext cx="539496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 b="1">
                <a:solidFill>
                  <a:srgbClr val="F3F6F9"/>
                </a:solidFill>
                <a:latin typeface="Microsoft YaHei"/>
              </a:defRPr>
            </a:pPr>
            <a:r>
              <a:t>L0 执行层 · 规则引擎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83280" y="4892040"/>
            <a:ext cx="539496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0">
                <a:solidFill>
                  <a:srgbClr val="F3F6F9"/>
                </a:solidFill>
                <a:latin typeface="Microsoft YaHei"/>
              </a:defRPr>
            </a:pPr>
            <a:r>
              <a:t>tap-guide / tap-only / 障碍学习</a:t>
            </a:r>
            <a:br/>
            <a:r>
              <a:t>零延迟执行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65760" y="1371600"/>
            <a:ext cx="2468880" cy="201168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6C75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65760" y="1371600"/>
            <a:ext cx="2468880" cy="411480"/>
          </a:xfrm>
          <a:prstGeom prst="rect">
            <a:avLst/>
          </a:prstGeom>
          <a:solidFill>
            <a:srgbClr val="6C757D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38912" y="1444752"/>
            <a:ext cx="2322576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F3F6F9"/>
                </a:solidFill>
                <a:latin typeface="Microsoft YaHei"/>
              </a:defRPr>
            </a:pPr>
            <a:r>
              <a:t>触发条件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5488" y="1874519"/>
            <a:ext cx="2249424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composite 连续低于阈值</a:t>
            </a:r>
          </a:p>
          <a:p>
            <a:pPr algn="l">
              <a:spcAft>
                <a:spcPts val="4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stall 超过 5 步</a:t>
            </a:r>
          </a:p>
          <a:p>
            <a:pPr algn="l">
              <a:spcAft>
                <a:spcPts val="4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L0/L2 决策冲突</a:t>
            </a:r>
          </a:p>
          <a:p>
            <a:pPr algn="l">
              <a:spcAft>
                <a:spcPts val="4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世界模型 stale 命中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326880" y="1371600"/>
            <a:ext cx="2468880" cy="201168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28A7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9326880" y="1371600"/>
            <a:ext cx="2468880" cy="411480"/>
          </a:xfrm>
          <a:prstGeom prst="rect">
            <a:avLst/>
          </a:prstGeom>
          <a:solidFill>
            <a:srgbClr val="28A745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00032" y="1444752"/>
            <a:ext cx="2322576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F3F6F9"/>
                </a:solidFill>
                <a:latin typeface="Microsoft YaHei"/>
              </a:defRPr>
            </a:pPr>
            <a:r>
              <a:t>更新产物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436607" y="1874519"/>
            <a:ext cx="2249424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参数更新</a:t>
            </a:r>
          </a:p>
          <a:p>
            <a:pPr algn="l">
              <a:spcAft>
                <a:spcPts val="4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phase contract</a:t>
            </a:r>
          </a:p>
          <a:p>
            <a:pPr algn="l">
              <a:spcAft>
                <a:spcPts val="4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strategy memory</a:t>
            </a:r>
          </a:p>
          <a:p>
            <a:pPr algn="l">
              <a:spcAft>
                <a:spcPts val="4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（可选）代码片段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286000" y="5806440"/>
            <a:ext cx="7589520" cy="502920"/>
          </a:xfrm>
          <a:prstGeom prst="roundRect">
            <a:avLst/>
          </a:prstGeom>
          <a:solidFill>
            <a:srgbClr val="1E2933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468880" y="5870448"/>
            <a:ext cx="722376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0">
                <a:solidFill>
                  <a:srgbClr val="F3F6F9"/>
                </a:solidFill>
                <a:latin typeface="Microsoft YaHei"/>
              </a:defRPr>
            </a:pPr>
            <a:r>
              <a:t>AgentBus · Observer → StateMapper → DecisionAnalyst → Verifier → Critic → MemoryCurator</a:t>
            </a:r>
          </a:p>
        </p:txBody>
      </p:sp>
      <p:sp>
        <p:nvSpPr>
          <p:cNvPr id="23" name="Rectangle 22"/>
          <p:cNvSpPr/>
          <p:nvPr/>
        </p:nvSpPr>
        <p:spPr>
          <a:xfrm>
            <a:off x="0" y="6537960"/>
            <a:ext cx="12191695" cy="18288"/>
          </a:xfrm>
          <a:prstGeom prst="rect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57200" y="6583680"/>
            <a:ext cx="3657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smallgameagent · LLM/VLM + 规则驱动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789920" y="6583680"/>
            <a:ext cx="914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6/28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A237E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12471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000" b="1">
                <a:solidFill>
                  <a:srgbClr val="F3F6F9"/>
                </a:solidFill>
                <a:latin typeface="Microsoft YaHei"/>
              </a:defRPr>
            </a:pPr>
            <a:r>
              <a:t>慢思考 + 快执行，各司其职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34440"/>
            <a:ext cx="110642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  <a:defRPr sz="1800" b="0">
                <a:solidFill>
                  <a:srgbClr val="1E2933"/>
                </a:solidFill>
                <a:latin typeface="Microsoft YaHei"/>
              </a:defRPr>
            </a:pPr>
            <a:r>
              <a:t>L0 规则引擎：每步几乎不花时间，负责 move / tap 的零延迟执行</a:t>
            </a:r>
          </a:p>
          <a:p>
            <a:pPr algn="l">
              <a:spcAft>
                <a:spcPts val="1000"/>
              </a:spcAft>
              <a:defRPr sz="1800" b="0">
                <a:solidFill>
                  <a:srgbClr val="1E2933"/>
                </a:solidFill>
                <a:latin typeface="Microsoft YaHei"/>
              </a:defRPr>
            </a:pPr>
            <a:r>
              <a:t>L1 本地 VLM：看截图判断当前状态，每 N 步或卡住时做战术修正</a:t>
            </a:r>
          </a:p>
          <a:p>
            <a:pPr algn="l">
              <a:spcAft>
                <a:spcPts val="1000"/>
              </a:spcAft>
              <a:defRPr sz="1800" b="0">
                <a:solidFill>
                  <a:srgbClr val="1E2933"/>
                </a:solidFill>
                <a:latin typeface="Microsoft YaHei"/>
              </a:defRPr>
            </a:pPr>
            <a:r>
              <a:t>L2 云端 API：看 probe state 做长程规划和规则更新，每 M 步或阶段切换触发</a:t>
            </a:r>
          </a:p>
          <a:p>
            <a:pPr algn="l">
              <a:spcAft>
                <a:spcPts val="1000"/>
              </a:spcAft>
              <a:defRPr sz="1800" b="0">
                <a:solidFill>
                  <a:srgbClr val="1E2933"/>
                </a:solidFill>
                <a:latin typeface="Microsoft YaHei"/>
              </a:defRPr>
            </a:pPr>
            <a:r>
              <a:t>核心思路：把贵且慢的调用摊到多步，单步延迟压到接近 0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37960"/>
            <a:ext cx="12191695" cy="18288"/>
          </a:xfrm>
          <a:prstGeom prst="rect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583680"/>
            <a:ext cx="3657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smallgameagent · LLM/VLM + 规则驱动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583680"/>
            <a:ext cx="914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7/28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237E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468880"/>
            <a:ext cx="1106424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4400" b="1">
                <a:solidFill>
                  <a:srgbClr val="F3F6F9"/>
                </a:solidFill>
                <a:latin typeface="Microsoft YaHei"/>
              </a:defRPr>
            </a:pPr>
            <a:r>
              <a:t>03 云端多 Provider API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3657600"/>
            <a:ext cx="1828800" cy="73152"/>
          </a:xfrm>
          <a:prstGeom prst="rect">
            <a:avLst/>
          </a:prstGeom>
          <a:solidFill>
            <a:srgbClr val="FF6B35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537960"/>
            <a:ext cx="12191695" cy="18288"/>
          </a:xfrm>
          <a:prstGeom prst="rect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583680"/>
            <a:ext cx="3657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smallgameagent · LLM/VLM + 规则驱动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583680"/>
            <a:ext cx="914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8/28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A237E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12471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000" b="1">
                <a:solidFill>
                  <a:srgbClr val="F3F6F9"/>
                </a:solidFill>
                <a:latin typeface="Microsoft YaHei"/>
              </a:defRPr>
            </a:pPr>
            <a:r>
              <a:t>云端多 Provider 实测状态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143000"/>
          <a:ext cx="11247120" cy="5120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11780"/>
                <a:gridCol w="2811780"/>
                <a:gridCol w="2811780"/>
                <a:gridCol w="2811780"/>
              </a:tblGrid>
              <a:tr h="853440"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3F6F9"/>
                          </a:solidFill>
                          <a:latin typeface="Microsoft YaHei"/>
                        </a:defRPr>
                      </a:pPr>
                      <a:r>
                        <a:t>Provider</a:t>
                      </a:r>
                    </a:p>
                  </a:txBody>
                  <a:tcPr>
                    <a:solidFill>
                      <a:srgbClr val="1A237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3F6F9"/>
                          </a:solidFill>
                          <a:latin typeface="Microsoft YaHei"/>
                        </a:defRPr>
                      </a:pPr>
                      <a:r>
                        <a:t>文本模型</a:t>
                      </a:r>
                    </a:p>
                  </a:txBody>
                  <a:tcPr>
                    <a:solidFill>
                      <a:srgbClr val="1A237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3F6F9"/>
                          </a:solidFill>
                          <a:latin typeface="Microsoft YaHei"/>
                        </a:defRPr>
                      </a:pPr>
                      <a:r>
                        <a:t>视觉模型</a:t>
                      </a:r>
                    </a:p>
                  </a:txBody>
                  <a:tcPr>
                    <a:solidFill>
                      <a:srgbClr val="1A237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3F6F9"/>
                          </a:solidFill>
                          <a:latin typeface="Microsoft YaHei"/>
                        </a:defRPr>
                      </a:pPr>
                      <a:r>
                        <a:t>状态</a:t>
                      </a:r>
                    </a:p>
                  </a:txBody>
                  <a:tcPr>
                    <a:solidFill>
                      <a:srgbClr val="1A237E"/>
                    </a:solidFill>
                  </a:tcPr>
                </a:tc>
              </a:tr>
              <a:tr h="853440"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Kimi</a:t>
                      </a:r>
                    </a:p>
                  </a:txBody>
                  <a:tcPr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kimi-k2.7-code / k2.5</a:t>
                      </a:r>
                    </a:p>
                  </a:txBody>
                  <a:tcPr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kimi-k2.6 / k2.5</a:t>
                      </a:r>
                    </a:p>
                  </a:txBody>
                  <a:tcPr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✅ 可用</a:t>
                      </a:r>
                    </a:p>
                  </a:txBody>
                  <a:tcPr>
                    <a:solidFill>
                      <a:srgbClr val="F3F6F9"/>
                    </a:solidFill>
                  </a:tcPr>
                </a:tc>
              </a:tr>
              <a:tr h="853440"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MiMo (xiaomi)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mimo-v2.5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mimo-v2.5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✅ 可用</a:t>
                      </a:r>
                    </a:p>
                  </a:txBody>
                  <a:tcPr/>
                </a:tc>
              </a:tr>
              <a:tr h="853440"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Qwen</a:t>
                      </a:r>
                    </a:p>
                  </a:txBody>
                  <a:tcPr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qwen3.7-max</a:t>
                      </a:r>
                    </a:p>
                  </a:txBody>
                  <a:tcPr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qwen3.7-max</a:t>
                      </a:r>
                    </a:p>
                  </a:txBody>
                  <a:tcPr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文本 ✅ / 视觉 ⚠️</a:t>
                      </a:r>
                    </a:p>
                  </a:txBody>
                  <a:tcPr>
                    <a:solidFill>
                      <a:srgbClr val="F3F6F9"/>
                    </a:solidFill>
                  </a:tcPr>
                </a:tc>
              </a:tr>
              <a:tr h="853440"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OpenCodeGo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deepseek-v4-flash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mimo-v2.5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❌ 余额不足</a:t>
                      </a:r>
                    </a:p>
                  </a:txBody>
                  <a:tcPr/>
                </a:tc>
              </a:tr>
              <a:tr h="853440"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DeepSeek</a:t>
                      </a:r>
                    </a:p>
                  </a:txBody>
                  <a:tcPr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deepseek-chat</a:t>
                      </a:r>
                    </a:p>
                  </a:txBody>
                  <a:tcPr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deepseek-chat</a:t>
                      </a:r>
                    </a:p>
                  </a:txBody>
                  <a:tcPr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❌ 余额不足</a:t>
                      </a:r>
                    </a:p>
                  </a:txBody>
                  <a:tcPr>
                    <a:solidFill>
                      <a:srgbClr val="F3F6F9"/>
                    </a:solidFill>
                  </a:tcPr>
                </a:tc>
              </a:tr>
            </a:tbl>
          </a:graphicData>
        </a:graphic>
      </p:graphicFrame>
      <p:sp>
        <p:nvSpPr>
          <p:cNvPr id="5" name="Rectangle 4"/>
          <p:cNvSpPr/>
          <p:nvPr/>
        </p:nvSpPr>
        <p:spPr>
          <a:xfrm>
            <a:off x="0" y="6537960"/>
            <a:ext cx="12191695" cy="18288"/>
          </a:xfrm>
          <a:prstGeom prst="rect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583680"/>
            <a:ext cx="3657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smallgameagent · LLM/VLM + 规则驱动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583680"/>
            <a:ext cx="914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9/28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A237E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12471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000" b="1">
                <a:solidFill>
                  <a:srgbClr val="F3F6F9"/>
                </a:solidFill>
                <a:latin typeface="Microsoft YaHei"/>
              </a:defRPr>
            </a:pPr>
            <a:r>
              <a:t>一个客户端，切换多家云模型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34440"/>
            <a:ext cx="110642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  <a:defRPr sz="1800" b="0">
                <a:solidFill>
                  <a:srgbClr val="1E2933"/>
                </a:solidFill>
                <a:latin typeface="Microsoft YaHei"/>
              </a:defRPr>
            </a:pPr>
            <a:r>
              <a:t>统一接入 OpenCodeGo / MiMo、Kimi、DeepSeek、Xiaomi、Qwen</a:t>
            </a:r>
          </a:p>
          <a:p>
            <a:pPr algn="l">
              <a:spcAft>
                <a:spcPts val="1000"/>
              </a:spcAft>
              <a:defRPr sz="1800" b="0">
                <a:solidFill>
                  <a:srgbClr val="1E2933"/>
                </a:solidFill>
                <a:latin typeface="Microsoft YaHei"/>
              </a:defRPr>
            </a:pPr>
            <a:r>
              <a:t>.env 集中管理 key 与 base_url，provider 用 CLOUD_PROVIDER 环境变量切换</a:t>
            </a:r>
          </a:p>
          <a:p>
            <a:pPr algn="l">
              <a:spcAft>
                <a:spcPts val="1000"/>
              </a:spcAft>
              <a:defRPr sz="1800" b="0">
                <a:solidFill>
                  <a:srgbClr val="1E2933"/>
                </a:solidFill>
                <a:latin typeface="Microsoft YaHei"/>
              </a:defRPr>
            </a:pPr>
            <a:r>
              <a:t>支持 KIMI_TEXT_MODEL / KIMI_VISION_MODEL 等覆盖默认模型</a:t>
            </a:r>
          </a:p>
          <a:p>
            <a:pPr algn="l">
              <a:spcAft>
                <a:spcPts val="1000"/>
              </a:spcAft>
              <a:defRPr sz="1800" b="0">
                <a:solidFill>
                  <a:srgbClr val="1E2933"/>
                </a:solidFill>
                <a:latin typeface="Microsoft YaHei"/>
              </a:defRPr>
            </a:pPr>
            <a:r>
              <a:t>当前实测可用：Kimi / Xiaomi 文本+多模态；Qwen 文本可用；OpenCodeGo / DeepSeek 余额不足</a:t>
            </a:r>
          </a:p>
          <a:p>
            <a:pPr algn="l">
              <a:spcAft>
                <a:spcPts val="1000"/>
              </a:spcAft>
              <a:defRPr sz="1800" b="0">
                <a:solidFill>
                  <a:srgbClr val="1E2933"/>
                </a:solidFill>
                <a:latin typeface="Microsoft YaHei"/>
              </a:defRPr>
            </a:pPr>
            <a:r>
              <a:t>Kimi 系列自动省略 temperature，避免代理返回 400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37960"/>
            <a:ext cx="12191695" cy="18288"/>
          </a:xfrm>
          <a:prstGeom prst="rect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583680"/>
            <a:ext cx="3657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smallgameagent · LLM/VLM + 规则驱动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583680"/>
            <a:ext cx="914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10/28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237E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468880"/>
            <a:ext cx="1106424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4400" b="1">
                <a:solidFill>
                  <a:srgbClr val="F3F6F9"/>
                </a:solidFill>
                <a:latin typeface="Microsoft YaHei"/>
              </a:defRPr>
            </a:pPr>
            <a:r>
              <a:t>04 规则在线更新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3657600"/>
            <a:ext cx="1828800" cy="73152"/>
          </a:xfrm>
          <a:prstGeom prst="rect">
            <a:avLst/>
          </a:prstGeom>
          <a:solidFill>
            <a:srgbClr val="FF6B35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537960"/>
            <a:ext cx="12191695" cy="18288"/>
          </a:xfrm>
          <a:prstGeom prst="rect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583680"/>
            <a:ext cx="3657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smallgameagent · LLM/VLM + 规则驱动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583680"/>
            <a:ext cx="914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11/28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A237E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12471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000" b="1">
                <a:solidFill>
                  <a:srgbClr val="F3F6F9"/>
                </a:solidFill>
                <a:latin typeface="Microsoft YaHei"/>
              </a:defRPr>
            </a:pPr>
            <a:r>
              <a:t>规则在线更新：L2 的参数能真正改变 L0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14400" y="1463040"/>
            <a:ext cx="3657600" cy="1280160"/>
          </a:xfrm>
          <a:prstGeom prst="roundRect">
            <a:avLst/>
          </a:prstGeom>
          <a:solidFill>
            <a:srgbClr val="1A237E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3F6F9"/>
                </a:solidFill>
                <a:latin typeface="Microsoft YaHei"/>
              </a:defRPr>
            </a:pPr>
            <a:r>
              <a:t>L2 云端 API</a:t>
            </a:r>
            <a:br/>
            <a:r>
              <a:t>检测触发条件，输出 param 更新</a:t>
            </a:r>
          </a:p>
        </p:txBody>
      </p:sp>
      <p:sp>
        <p:nvSpPr>
          <p:cNvPr id="5" name="Down Arrow 4"/>
          <p:cNvSpPr/>
          <p:nvPr/>
        </p:nvSpPr>
        <p:spPr>
          <a:xfrm>
            <a:off x="2377440" y="2834640"/>
            <a:ext cx="731520" cy="640080"/>
          </a:xfrm>
          <a:prstGeom prst="downArrow">
            <a:avLst/>
          </a:prstGeom>
          <a:solidFill>
            <a:srgbClr val="6C757D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914400" y="3566160"/>
            <a:ext cx="3657600" cy="914400"/>
          </a:xfrm>
          <a:prstGeom prst="roundRect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3F6F9"/>
                </a:solidFill>
                <a:latin typeface="Microsoft YaHei"/>
              </a:defRPr>
            </a:pPr>
            <a:r>
              <a:t>共享 RuleParameters</a:t>
            </a:r>
            <a:br/>
            <a:r>
              <a:t>coin_save_buffer / stuck_escape_threshold / ...</a:t>
            </a:r>
          </a:p>
        </p:txBody>
      </p:sp>
      <p:sp>
        <p:nvSpPr>
          <p:cNvPr id="7" name="Down Arrow 6"/>
          <p:cNvSpPr/>
          <p:nvPr/>
        </p:nvSpPr>
        <p:spPr>
          <a:xfrm>
            <a:off x="2377440" y="4526280"/>
            <a:ext cx="731520" cy="640080"/>
          </a:xfrm>
          <a:prstGeom prst="downArrow">
            <a:avLst/>
          </a:prstGeom>
          <a:solidFill>
            <a:srgbClr val="6C757D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914400" y="5257800"/>
            <a:ext cx="3657600" cy="1097280"/>
          </a:xfrm>
          <a:prstGeom prst="roundRect">
            <a:avLst/>
          </a:prstGeom>
          <a:solidFill>
            <a:srgbClr val="FF6B35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3F6F9"/>
                </a:solidFill>
                <a:latin typeface="Microsoft YaHei"/>
              </a:defRPr>
            </a:pPr>
            <a:r>
              <a:t>L0 规则引擎</a:t>
            </a:r>
            <a:br/>
            <a:r>
              <a:t>每步读取参数，执行 move / tap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943600" y="1463040"/>
            <a:ext cx="5760720" cy="489204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28A7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943600" y="1463040"/>
            <a:ext cx="5760720" cy="411480"/>
          </a:xfrm>
          <a:prstGeom prst="rect">
            <a:avLst/>
          </a:prstGeom>
          <a:solidFill>
            <a:srgbClr val="28A745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016752" y="1536192"/>
            <a:ext cx="5614416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F3F6F9"/>
                </a:solidFill>
                <a:latin typeface="Microsoft YaHei"/>
              </a:defRPr>
            </a:pPr>
            <a:r>
              <a:t>本次修复的关键点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53328" y="1965960"/>
            <a:ext cx="5541264" cy="42976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之前 L2 的 param 更新只停留在 HierarchicalPlanner 内部</a:t>
            </a:r>
          </a:p>
          <a:p>
            <a:pPr algn="l">
              <a:spcAft>
                <a:spcPts val="4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RuleEngine 用硬编码默认值，导致更新无效</a:t>
            </a:r>
          </a:p>
          <a:p>
            <a:pPr algn="l">
              <a:spcAft>
                <a:spcPts val="4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现在 HybridAgent 创建共享 RuleParameters，同时注入 L2 和 L0</a:t>
            </a:r>
          </a:p>
          <a:p>
            <a:pPr algn="l">
              <a:spcAft>
                <a:spcPts val="4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L2 更新 → 共享参数 → L0 即时生效，形成完整闭环</a:t>
            </a:r>
          </a:p>
        </p:txBody>
      </p:sp>
      <p:sp>
        <p:nvSpPr>
          <p:cNvPr id="13" name="Rectangle 12"/>
          <p:cNvSpPr/>
          <p:nvPr/>
        </p:nvSpPr>
        <p:spPr>
          <a:xfrm>
            <a:off x="0" y="6537960"/>
            <a:ext cx="12191695" cy="18288"/>
          </a:xfrm>
          <a:prstGeom prst="rect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200" y="6583680"/>
            <a:ext cx="3657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smallgameagent · LLM/VLM + 规则驱动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789920" y="6583680"/>
            <a:ext cx="914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12/28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A237E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12471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000" b="1">
                <a:solidFill>
                  <a:srgbClr val="F3F6F9"/>
                </a:solidFill>
                <a:latin typeface="Microsoft YaHei"/>
              </a:defRPr>
            </a:pPr>
            <a:r>
              <a:t>代码文件级更新：L2 直接调引擎旋钮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280160"/>
            <a:ext cx="5486400" cy="237744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28A7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280160"/>
            <a:ext cx="5486400" cy="411480"/>
          </a:xfrm>
          <a:prstGeom prst="rect">
            <a:avLst/>
          </a:prstGeom>
          <a:solidFill>
            <a:srgbClr val="28A745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30352" y="1353312"/>
            <a:ext cx="5340096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F3F6F9"/>
                </a:solidFill>
                <a:latin typeface="Microsoft YaHei"/>
              </a:defRPr>
            </a:pPr>
            <a:r>
              <a:t>安全门设计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783080"/>
            <a:ext cx="5266944" cy="1783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白名单：只能改 configs/runtime_rules.json</a:t>
            </a:r>
          </a:p>
          <a:p>
            <a:pPr algn="l">
              <a:spcAft>
                <a:spcPts val="4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置信度 ≥ 0.9，patch ≤ 2000 字符</a:t>
            </a:r>
          </a:p>
          <a:p>
            <a:pPr algn="l">
              <a:spcAft>
                <a:spcPts val="4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search 块必须唯一匹配，否则进待审队列</a:t>
            </a:r>
          </a:p>
          <a:p>
            <a:pPr algn="l">
              <a:spcAft>
                <a:spcPts val="4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修改前自动备份，保留最近 3 份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280160"/>
            <a:ext cx="5486400" cy="237744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FF6B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217920" y="1280160"/>
            <a:ext cx="5486400" cy="411480"/>
          </a:xfrm>
          <a:prstGeom prst="rect">
            <a:avLst/>
          </a:prstGeom>
          <a:solidFill>
            <a:srgbClr val="FF6B35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91072" y="1353312"/>
            <a:ext cx="5340096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F3F6F9"/>
                </a:solidFill>
                <a:latin typeface="Microsoft YaHei"/>
              </a:defRPr>
            </a:pPr>
            <a:r>
              <a:t>离线实验结果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27648" y="1783080"/>
            <a:ext cx="5266944" cy="1783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游戏：SSD_00461P01，回放 30 步</a:t>
            </a:r>
          </a:p>
          <a:p>
            <a:pPr algn="l">
              <a:spcAft>
                <a:spcPts val="4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mock L2 以 0.95 置信度触发更新</a:t>
            </a:r>
          </a:p>
          <a:p>
            <a:pPr algn="l">
              <a:spcAft>
                <a:spcPts val="4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stuck_escape_threshold 5 → 3</a:t>
            </a:r>
          </a:p>
          <a:p>
            <a:pPr algn="l">
              <a:spcAft>
                <a:spcPts val="4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第 6 步起规则引擎读取到新阈值</a:t>
            </a:r>
          </a:p>
          <a:p>
            <a:pPr algn="l">
              <a:spcAft>
                <a:spcPts val="4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实验结束后配置文件自动恢复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457200" y="3886200"/>
          <a:ext cx="1124712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11780"/>
                <a:gridCol w="2811780"/>
                <a:gridCol w="2811780"/>
                <a:gridCol w="2811780"/>
              </a:tblGrid>
              <a:tr h="365760"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3F6F9"/>
                          </a:solidFill>
                          <a:latin typeface="Microsoft YaHei"/>
                        </a:defRPr>
                      </a:pPr>
                      <a:r>
                        <a:t>Provider</a:t>
                      </a:r>
                    </a:p>
                  </a:txBody>
                  <a:tcPr>
                    <a:solidFill>
                      <a:srgbClr val="1A237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3F6F9"/>
                          </a:solidFill>
                          <a:latin typeface="Microsoft YaHei"/>
                        </a:defRPr>
                      </a:pPr>
                      <a:r>
                        <a:t>模型</a:t>
                      </a:r>
                    </a:p>
                  </a:txBody>
                  <a:tcPr>
                    <a:solidFill>
                      <a:srgbClr val="1A237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3F6F9"/>
                          </a:solidFill>
                          <a:latin typeface="Microsoft YaHei"/>
                        </a:defRPr>
                      </a:pPr>
                      <a:r>
                        <a:t>延迟</a:t>
                      </a:r>
                    </a:p>
                  </a:txBody>
                  <a:tcPr>
                    <a:solidFill>
                      <a:srgbClr val="1A237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3F6F9"/>
                          </a:solidFill>
                          <a:latin typeface="Microsoft YaHei"/>
                        </a:defRPr>
                      </a:pPr>
                      <a:r>
                        <a:t>结果</a:t>
                      </a:r>
                    </a:p>
                  </a:txBody>
                  <a:tcPr>
                    <a:solidFill>
                      <a:srgbClr val="1A237E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100">
                          <a:latin typeface="Microsoft YaHei"/>
                        </a:defRPr>
                      </a:pPr>
                      <a:r>
                        <a:t>qwen</a:t>
                      </a:r>
                    </a:p>
                  </a:txBody>
                  <a:tcPr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latin typeface="Microsoft YaHei"/>
                        </a:defRPr>
                      </a:pPr>
                      <a:r>
                        <a:t>qwen3.7-max</a:t>
                      </a:r>
                    </a:p>
                  </a:txBody>
                  <a:tcPr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latin typeface="Microsoft YaHei"/>
                        </a:defRPr>
                      </a:pPr>
                      <a:r>
                        <a:t>7.83s</a:t>
                      </a:r>
                    </a:p>
                  </a:txBody>
                  <a:tcPr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latin typeface="Microsoft YaHei"/>
                        </a:defRPr>
                      </a:pPr>
                      <a:r>
                        <a:t>✅ 应用成功</a:t>
                      </a:r>
                    </a:p>
                  </a:txBody>
                  <a:tcPr>
                    <a:solidFill>
                      <a:srgbClr val="F3F6F9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100">
                          <a:latin typeface="Microsoft YaHei"/>
                        </a:defRPr>
                      </a:pPr>
                      <a:r>
                        <a:t>kimi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latin typeface="Microsoft YaHei"/>
                        </a:defRPr>
                      </a:pPr>
                      <a:r>
                        <a:t>kimi-k2.7-code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latin typeface="Microsoft YaHei"/>
                        </a:defRPr>
                      </a:pPr>
                      <a:r>
                        <a:t>3.32s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latin typeface="Microsoft YaHei"/>
                        </a:defRPr>
                      </a:pPr>
                      <a:r>
                        <a:t>✅ 应用成功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100">
                          <a:latin typeface="Microsoft YaHei"/>
                        </a:defRPr>
                      </a:pPr>
                      <a:r>
                        <a:t>xiaomi</a:t>
                      </a:r>
                    </a:p>
                  </a:txBody>
                  <a:tcPr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latin typeface="Microsoft YaHei"/>
                        </a:defRPr>
                      </a:pPr>
                      <a:r>
                        <a:t>mimo-v2.5</a:t>
                      </a:r>
                    </a:p>
                  </a:txBody>
                  <a:tcPr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latin typeface="Microsoft YaHei"/>
                        </a:defRPr>
                      </a:pPr>
                      <a:r>
                        <a:t>6.18s</a:t>
                      </a:r>
                    </a:p>
                  </a:txBody>
                  <a:tcPr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latin typeface="Microsoft YaHei"/>
                        </a:defRPr>
                      </a:pPr>
                      <a:r>
                        <a:t>✅ 应用成功</a:t>
                      </a:r>
                    </a:p>
                  </a:txBody>
                  <a:tcPr>
                    <a:solidFill>
                      <a:srgbClr val="F3F6F9"/>
                    </a:solidFill>
                  </a:tcPr>
                </a:tc>
              </a:tr>
            </a:tbl>
          </a:graphicData>
        </a:graphic>
      </p:graphicFrame>
      <p:sp>
        <p:nvSpPr>
          <p:cNvPr id="13" name="Rounded Rectangle 12"/>
          <p:cNvSpPr/>
          <p:nvPr/>
        </p:nvSpPr>
        <p:spPr>
          <a:xfrm>
            <a:off x="457200" y="5486400"/>
            <a:ext cx="11247120" cy="548640"/>
          </a:xfrm>
          <a:prstGeom prst="roundRect">
            <a:avLst/>
          </a:prstGeom>
          <a:solidFill>
            <a:srgbClr val="F3F6F9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意义：云端模型不仅能改内存参数，还能持久化地调整规则引擎的「旋钮」，且 qwen/kimi/xiaomi 三家都能正确生成可应用的 JSON patch。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6537960"/>
            <a:ext cx="12191695" cy="18288"/>
          </a:xfrm>
          <a:prstGeom prst="rect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" y="6583680"/>
            <a:ext cx="3657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smallgameagent · LLM/VLM + 规则驱动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789920" y="6583680"/>
            <a:ext cx="914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13/28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A237E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12471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000" b="1">
                <a:solidFill>
                  <a:srgbClr val="F3F6F9"/>
                </a:solidFill>
                <a:latin typeface="Microsoft YaHei"/>
              </a:defRPr>
            </a:pPr>
            <a:r>
              <a:t>规则不是写死的，触发后才让上层改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34440"/>
            <a:ext cx="110642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  <a:defRPr sz="1800" b="0">
                <a:solidFill>
                  <a:srgbClr val="1E2933"/>
                </a:solidFill>
                <a:latin typeface="Microsoft YaHei"/>
              </a:defRPr>
            </a:pPr>
            <a:r>
              <a:t>触发器监控：composite 持续低迷 / stall 计数 / L0-L2 决策冲突 / 世界模型 stale</a:t>
            </a:r>
          </a:p>
          <a:p>
            <a:pPr algn="l">
              <a:spcAft>
                <a:spcPts val="1000"/>
              </a:spcAft>
              <a:defRPr sz="1800" b="0">
                <a:solidFill>
                  <a:srgbClr val="1E2933"/>
                </a:solidFill>
                <a:latin typeface="Microsoft YaHei"/>
              </a:defRPr>
            </a:pPr>
            <a:r>
              <a:t>L2 输出结构化 JSON：param、memory_entry、phase_contract、code_file</a:t>
            </a:r>
          </a:p>
          <a:p>
            <a:pPr algn="l">
              <a:spcAft>
                <a:spcPts val="1000"/>
              </a:spcAft>
              <a:defRPr sz="1800" b="0">
                <a:solidFill>
                  <a:srgbClr val="1E2933"/>
                </a:solidFill>
                <a:latin typeface="Microsoft YaHei"/>
              </a:defRPr>
            </a:pPr>
            <a:r>
              <a:t>默认只修改内存参数与 strategy memory，零风险、即时生效</a:t>
            </a:r>
          </a:p>
          <a:p>
            <a:pPr algn="l">
              <a:spcAft>
                <a:spcPts val="1000"/>
              </a:spcAft>
              <a:defRPr sz="1800" b="0">
                <a:solidFill>
                  <a:srgbClr val="1E2933"/>
                </a:solidFill>
                <a:latin typeface="Microsoft YaHei"/>
              </a:defRPr>
            </a:pPr>
            <a:r>
              <a:t>代码文件改写需 allowlist + 置信度 ≥ 0.9 + 自动备份，没通过就进待审队列</a:t>
            </a:r>
          </a:p>
          <a:p>
            <a:pPr algn="l">
              <a:spcAft>
                <a:spcPts val="1000"/>
              </a:spcAft>
              <a:defRPr sz="1800" b="0">
                <a:solidFill>
                  <a:srgbClr val="1E2933"/>
                </a:solidFill>
                <a:latin typeface="Microsoft YaHei"/>
              </a:defRPr>
            </a:pPr>
            <a:r>
              <a:t>目标：把「有钱就升级」的短视行为改成「攒够再升级」的长程策略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37960"/>
            <a:ext cx="12191695" cy="18288"/>
          </a:xfrm>
          <a:prstGeom prst="rect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583680"/>
            <a:ext cx="3657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smallgameagent · LLM/VLM + 规则驱动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583680"/>
            <a:ext cx="914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14/28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237E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468880"/>
            <a:ext cx="1106424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4400" b="1">
                <a:solidFill>
                  <a:srgbClr val="F3F6F9"/>
                </a:solidFill>
                <a:latin typeface="Microsoft YaHei"/>
              </a:defRPr>
            </a:pPr>
            <a:r>
              <a:t>05 Agent 通信与记忆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3657600"/>
            <a:ext cx="1828800" cy="73152"/>
          </a:xfrm>
          <a:prstGeom prst="rect">
            <a:avLst/>
          </a:prstGeom>
          <a:solidFill>
            <a:srgbClr val="FF6B35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537960"/>
            <a:ext cx="12191695" cy="18288"/>
          </a:xfrm>
          <a:prstGeom prst="rect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583680"/>
            <a:ext cx="3657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smallgameagent · LLM/VLM + 规则驱动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583680"/>
            <a:ext cx="914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15/28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A237E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12471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000" b="1">
                <a:solidFill>
                  <a:srgbClr val="F3F6F9"/>
                </a:solidFill>
                <a:latin typeface="Microsoft YaHei"/>
              </a:defRPr>
            </a:pPr>
            <a:r>
              <a:t>Agent 通信与记忆：从单兵到协作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65760" y="1280160"/>
            <a:ext cx="3657600" cy="210312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1A23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760" y="1280160"/>
            <a:ext cx="3657600" cy="411480"/>
          </a:xfrm>
          <a:prstGeom prst="rect">
            <a:avLst/>
          </a:prstGeom>
          <a:solidFill>
            <a:srgbClr val="1A237E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12" y="1353312"/>
            <a:ext cx="3511296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F3F6F9"/>
                </a:solidFill>
                <a:latin typeface="Microsoft YaHei"/>
              </a:defRPr>
            </a:pPr>
            <a:r>
              <a:t>记忆三层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75488" y="1783080"/>
            <a:ext cx="3438144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Episodic：逐步 state / action / reward</a:t>
            </a:r>
          </a:p>
          <a:p>
            <a:pPr algn="l">
              <a:spcAft>
                <a:spcPts val="4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Semantic：游戏类型、目标语义向量</a:t>
            </a:r>
          </a:p>
          <a:p>
            <a:pPr algn="l">
              <a:spcAft>
                <a:spcPts val="4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Procedural：成功策略、失败模式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97680" y="1280160"/>
            <a:ext cx="3657600" cy="210312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0096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297680" y="1280160"/>
            <a:ext cx="3657600" cy="411480"/>
          </a:xfrm>
          <a:prstGeom prst="rect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70832" y="1353312"/>
            <a:ext cx="3511296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F3F6F9"/>
                </a:solidFill>
                <a:latin typeface="Microsoft YaHei"/>
              </a:defRPr>
            </a:pPr>
            <a:r>
              <a:t>AgentBus 消息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07408" y="1783080"/>
            <a:ext cx="3438144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OBSERVATION / STATE_UPDATE</a:t>
            </a:r>
          </a:p>
          <a:p>
            <a:pPr algn="l">
              <a:spcAft>
                <a:spcPts val="4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DECISION_PROPOSAL / CRITIQUE</a:t>
            </a:r>
          </a:p>
          <a:p>
            <a:pPr algn="l">
              <a:spcAft>
                <a:spcPts val="4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RULE_UPDATE / MEMORY_WRITE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0" y="1280160"/>
            <a:ext cx="3657600" cy="210312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FF6B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229600" y="1280160"/>
            <a:ext cx="3657600" cy="411480"/>
          </a:xfrm>
          <a:prstGeom prst="rect">
            <a:avLst/>
          </a:prstGeom>
          <a:solidFill>
            <a:srgbClr val="FF6B35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302752" y="1353312"/>
            <a:ext cx="3511296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F3F6F9"/>
                </a:solidFill>
                <a:latin typeface="Microsoft YaHei"/>
              </a:defRPr>
            </a:pPr>
            <a:r>
              <a:t>协作流程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39327" y="1783080"/>
            <a:ext cx="3438144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Observer 采集 probe 状态</a:t>
            </a:r>
          </a:p>
          <a:p>
            <a:pPr algn="l">
              <a:spcAft>
                <a:spcPts val="4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DecisionAnalyst 生成候选动作</a:t>
            </a:r>
          </a:p>
          <a:p>
            <a:pPr algn="l">
              <a:spcAft>
                <a:spcPts val="4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Critic 评估一致性风险</a:t>
            </a:r>
          </a:p>
          <a:p>
            <a:pPr algn="l">
              <a:spcAft>
                <a:spcPts val="4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MemoryCurator 归档有用模式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65760" y="3657600"/>
            <a:ext cx="11430000" cy="1005840"/>
          </a:xfrm>
          <a:prstGeom prst="roundRect">
            <a:avLst/>
          </a:prstGeom>
          <a:solidFill>
            <a:srgbClr val="F3F6F9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0">
                <a:solidFill>
                  <a:srgbClr val="1E2933"/>
                </a:solidFill>
                <a:latin typeface="Microsoft YaHei"/>
              </a:defRPr>
            </a:pPr>
            <a:r>
              <a:t>核心思路：不要把所有决策压给一个模型。让云端 API 做长程规划，本地 VLM 做画面理解，规则引擎做零延迟执行，记忆层负责跨 episode 复用。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0" y="6537960"/>
            <a:ext cx="12191695" cy="18288"/>
          </a:xfrm>
          <a:prstGeom prst="rect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" y="6583680"/>
            <a:ext cx="3657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smallgameagent · LLM/VLM + 规则驱动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789920" y="6583680"/>
            <a:ext cx="914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16/28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A237E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12471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000" b="1">
                <a:solidFill>
                  <a:srgbClr val="F3F6F9"/>
                </a:solidFill>
                <a:latin typeface="Microsoft YaHei"/>
              </a:defRPr>
            </a:pPr>
            <a:r>
              <a:t>通信与记忆的设计取舍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280160"/>
            <a:ext cx="5486400" cy="49377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0096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280160"/>
            <a:ext cx="5486400" cy="411480"/>
          </a:xfrm>
          <a:prstGeom prst="rect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30352" y="1353312"/>
            <a:ext cx="5340096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F3F6F9"/>
                </a:solidFill>
                <a:latin typeface="Microsoft YaHei"/>
              </a:defRPr>
            </a:pPr>
            <a:r>
              <a:t>记忆读回的优势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783080"/>
            <a:ext cx="5266944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00461 multi-bus-memory 0.106 → 0.300</a:t>
            </a:r>
          </a:p>
          <a:p>
            <a:pPr algn="l">
              <a:spcAft>
                <a:spcPts val="4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00736 multi-bus-memory 0.269 → 0.300</a:t>
            </a:r>
          </a:p>
          <a:p>
            <a:pPr algn="l">
              <a:spcAft>
                <a:spcPts val="4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跨 episode 复用成功模式</a:t>
            </a:r>
          </a:p>
          <a:p>
            <a:pPr algn="l">
              <a:spcAft>
                <a:spcPts val="4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减少重复探索带来的 stall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280160"/>
            <a:ext cx="5486400" cy="49377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FF6B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217920" y="1280160"/>
            <a:ext cx="5486400" cy="411480"/>
          </a:xfrm>
          <a:prstGeom prst="rect">
            <a:avLst/>
          </a:prstGeom>
          <a:solidFill>
            <a:srgbClr val="FF6B35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91072" y="1353312"/>
            <a:ext cx="5340096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F3F6F9"/>
                </a:solidFill>
                <a:latin typeface="Microsoft YaHei"/>
              </a:defRPr>
            </a:pPr>
            <a:r>
              <a:t>仍需解决的问题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27648" y="1783080"/>
            <a:ext cx="5266944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00483 / 00517 multi-bus activity=0：driver 不匹配</a:t>
            </a:r>
          </a:p>
          <a:p>
            <a:pPr algn="l">
              <a:spcAft>
                <a:spcPts val="4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strategy_memory 需要预热，冷启动时可能反噬</a:t>
            </a:r>
          </a:p>
          <a:p>
            <a:pPr algn="l">
              <a:spcAft>
                <a:spcPts val="4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多 Agent 冲突时需要更严格的仲裁机制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6537960"/>
            <a:ext cx="12191695" cy="18288"/>
          </a:xfrm>
          <a:prstGeom prst="rect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" y="6583680"/>
            <a:ext cx="3657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smallgameagent · LLM/VLM + 规则驱动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89920" y="6583680"/>
            <a:ext cx="914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17/28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237E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468880"/>
            <a:ext cx="1106424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4400" b="1">
                <a:solidFill>
                  <a:srgbClr val="F3F6F9"/>
                </a:solidFill>
                <a:latin typeface="Microsoft YaHei"/>
              </a:defRPr>
            </a:pPr>
            <a:r>
              <a:t>06 本地 VLM：把 8 GB 显存用到极限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3657600"/>
            <a:ext cx="1828800" cy="73152"/>
          </a:xfrm>
          <a:prstGeom prst="rect">
            <a:avLst/>
          </a:prstGeom>
          <a:solidFill>
            <a:srgbClr val="FF6B35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537960"/>
            <a:ext cx="12191695" cy="18288"/>
          </a:xfrm>
          <a:prstGeom prst="rect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583680"/>
            <a:ext cx="3657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smallgameagent · LLM/VLM + 规则驱动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583680"/>
            <a:ext cx="914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18/28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A237E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12471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000" b="1">
                <a:solidFill>
                  <a:srgbClr val="F3F6F9"/>
                </a:solidFill>
                <a:latin typeface="Microsoft YaHei"/>
              </a:defRPr>
            </a:pPr>
            <a:r>
              <a:t>小模型 + 重量化 = 可落地的视觉层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34440"/>
            <a:ext cx="110642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  <a:defRPr sz="1800" b="0">
                <a:solidFill>
                  <a:srgbClr val="1E2933"/>
                </a:solidFill>
                <a:latin typeface="Microsoft YaHei"/>
              </a:defRPr>
            </a:pPr>
            <a:r>
              <a:t>基线：4-bit NF4 量化加载 Qwen3.5-4B/9B、Gemma-4-E4B</a:t>
            </a:r>
          </a:p>
          <a:p>
            <a:pPr algn="l">
              <a:spcAft>
                <a:spcPts val="1000"/>
              </a:spcAft>
              <a:defRPr sz="1800" b="0">
                <a:solidFill>
                  <a:srgbClr val="1E2933"/>
                </a:solidFill>
                <a:latin typeface="Microsoft YaHei"/>
              </a:defRPr>
            </a:pPr>
            <a:r>
              <a:t>进一步减显存：KV-cache 量化（q4_0 / q8_0 / q4_k_m）</a:t>
            </a:r>
          </a:p>
          <a:p>
            <a:pPr algn="l">
              <a:spcAft>
                <a:spcPts val="1000"/>
              </a:spcAft>
              <a:defRPr sz="1800" b="0">
                <a:solidFill>
                  <a:srgbClr val="1E2933"/>
                </a:solidFill>
                <a:latin typeface="Microsoft YaHei"/>
              </a:defRPr>
            </a:pPr>
            <a:r>
              <a:t>当前本地测试：Qwen3.5-4B 在 RTX 5060 8GB 上约 7s/帧可跑通</a:t>
            </a:r>
          </a:p>
          <a:p>
            <a:pPr algn="l">
              <a:spcAft>
                <a:spcPts val="1000"/>
              </a:spcAft>
              <a:defRPr sz="1800" b="0">
                <a:solidFill>
                  <a:srgbClr val="1E2933"/>
                </a:solidFill>
                <a:latin typeface="Microsoft YaHei"/>
              </a:defRPr>
            </a:pPr>
            <a:r>
              <a:t>但默认模型的视觉摘要不稳定，有时输出大量草稿/截断，反而带偏云端策略</a:t>
            </a:r>
          </a:p>
          <a:p>
            <a:pPr algn="l">
              <a:spcAft>
                <a:spcPts val="1000"/>
              </a:spcAft>
              <a:defRPr sz="1800" b="0">
                <a:solidFill>
                  <a:srgbClr val="1E2933"/>
                </a:solidFill>
                <a:latin typeface="Microsoft YaHei"/>
              </a:defRPr>
            </a:pPr>
            <a:r>
              <a:t>实验：text-only 5/9 动作匹配，加本地 VLM 上下文后 3/9</a:t>
            </a:r>
          </a:p>
          <a:p>
            <a:pPr algn="l">
              <a:spcAft>
                <a:spcPts val="1000"/>
              </a:spcAft>
              <a:defRPr sz="1800" b="0">
                <a:solidFill>
                  <a:srgbClr val="1E2933"/>
                </a:solidFill>
                <a:latin typeface="Microsoft YaHei"/>
              </a:defRPr>
            </a:pPr>
            <a:r>
              <a:t>未来：离线标注 → QLoRA 微调 → 给云端 API 提供结构化视觉上下文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37960"/>
            <a:ext cx="12191695" cy="18288"/>
          </a:xfrm>
          <a:prstGeom prst="rect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583680"/>
            <a:ext cx="3657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smallgameagent · LLM/VLM + 规则驱动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583680"/>
            <a:ext cx="914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19/28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237E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468880"/>
            <a:ext cx="1106424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4400" b="1">
                <a:solidFill>
                  <a:srgbClr val="F3F6F9"/>
                </a:solidFill>
                <a:latin typeface="Microsoft YaHei"/>
              </a:defRPr>
            </a:pPr>
            <a:r>
              <a:t>07 实验结果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3657600"/>
            <a:ext cx="1828800" cy="73152"/>
          </a:xfrm>
          <a:prstGeom prst="rect">
            <a:avLst/>
          </a:prstGeom>
          <a:solidFill>
            <a:srgbClr val="FF6B35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537960"/>
            <a:ext cx="12191695" cy="18288"/>
          </a:xfrm>
          <a:prstGeom prst="rect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583680"/>
            <a:ext cx="3657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smallgameagent · LLM/VLM + 规则驱动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583680"/>
            <a:ext cx="914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20/28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A237E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12471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000" b="1">
                <a:solidFill>
                  <a:srgbClr val="F3F6F9"/>
                </a:solidFill>
                <a:latin typeface="Microsoft YaHei"/>
              </a:defRPr>
            </a:pPr>
            <a:r>
              <a:t>离线回放：rule 基线 vs 在线规则更新（5 款游戏）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143000"/>
          <a:ext cx="11247120" cy="5120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11780"/>
                <a:gridCol w="2811780"/>
                <a:gridCol w="2811780"/>
                <a:gridCol w="2811780"/>
              </a:tblGrid>
              <a:tr h="853440"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3F6F9"/>
                          </a:solidFill>
                          <a:latin typeface="Microsoft YaHei"/>
                        </a:defRPr>
                      </a:pPr>
                      <a:r>
                        <a:t>游戏</a:t>
                      </a:r>
                    </a:p>
                  </a:txBody>
                  <a:tcPr>
                    <a:solidFill>
                      <a:srgbClr val="1A237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3F6F9"/>
                          </a:solidFill>
                          <a:latin typeface="Microsoft YaHei"/>
                        </a:defRPr>
                      </a:pPr>
                      <a:r>
                        <a:t>rule composite</a:t>
                      </a:r>
                    </a:p>
                  </a:txBody>
                  <a:tcPr>
                    <a:solidFill>
                      <a:srgbClr val="1A237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3F6F9"/>
                          </a:solidFill>
                          <a:latin typeface="Microsoft YaHei"/>
                        </a:defRPr>
                      </a:pPr>
                      <a:r>
                        <a:t>hierarchical(mock)</a:t>
                      </a:r>
                    </a:p>
                  </a:txBody>
                  <a:tcPr>
                    <a:solidFill>
                      <a:srgbClr val="1A237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3F6F9"/>
                          </a:solidFill>
                          <a:latin typeface="Microsoft YaHei"/>
                        </a:defRPr>
                      </a:pPr>
                      <a:r>
                        <a:t>rule updates</a:t>
                      </a:r>
                    </a:p>
                  </a:txBody>
                  <a:tcPr>
                    <a:solidFill>
                      <a:srgbClr val="1A237E"/>
                    </a:solidFill>
                  </a:tcPr>
                </a:tc>
              </a:tr>
              <a:tr h="853440"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00461 塔防</a:t>
                      </a:r>
                    </a:p>
                  </a:txBody>
                  <a:tcPr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0.241</a:t>
                      </a:r>
                    </a:p>
                  </a:txBody>
                  <a:tcPr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0.241</a:t>
                      </a:r>
                    </a:p>
                  </a:txBody>
                  <a:tcPr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13</a:t>
                      </a:r>
                    </a:p>
                  </a:txBody>
                  <a:tcPr>
                    <a:solidFill>
                      <a:srgbClr val="F3F6F9"/>
                    </a:solidFill>
                  </a:tcPr>
                </a:tc>
              </a:tr>
              <a:tr h="853440"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00219 养牛卖奶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0.300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0.300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38</a:t>
                      </a:r>
                    </a:p>
                  </a:txBody>
                  <a:tcPr/>
                </a:tc>
              </a:tr>
              <a:tr h="853440"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00332 圣诞薅羊毛</a:t>
                      </a:r>
                    </a:p>
                  </a:txBody>
                  <a:tcPr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0.300</a:t>
                      </a:r>
                    </a:p>
                  </a:txBody>
                  <a:tcPr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0.283</a:t>
                      </a:r>
                    </a:p>
                  </a:txBody>
                  <a:tcPr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9</a:t>
                      </a:r>
                    </a:p>
                  </a:txBody>
                  <a:tcPr>
                    <a:solidFill>
                      <a:srgbClr val="F3F6F9"/>
                    </a:solidFill>
                  </a:tcPr>
                </a:tc>
              </a:tr>
              <a:tr h="853440"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00342 建造合并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0.300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0.297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35</a:t>
                      </a:r>
                    </a:p>
                  </a:txBody>
                  <a:tcPr/>
                </a:tc>
              </a:tr>
              <a:tr h="853440"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00382 低坑杀鲨鱼</a:t>
                      </a:r>
                    </a:p>
                  </a:txBody>
                  <a:tcPr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0.300</a:t>
                      </a:r>
                    </a:p>
                  </a:txBody>
                  <a:tcPr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0.286</a:t>
                      </a:r>
                    </a:p>
                  </a:txBody>
                  <a:tcPr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15</a:t>
                      </a:r>
                    </a:p>
                  </a:txBody>
                  <a:tcPr>
                    <a:solidFill>
                      <a:srgbClr val="F3F6F9"/>
                    </a:solidFill>
                  </a:tcPr>
                </a:tc>
              </a:tr>
            </a:tbl>
          </a:graphicData>
        </a:graphic>
      </p:graphicFrame>
      <p:sp>
        <p:nvSpPr>
          <p:cNvPr id="5" name="Rectangle 4"/>
          <p:cNvSpPr/>
          <p:nvPr/>
        </p:nvSpPr>
        <p:spPr>
          <a:xfrm>
            <a:off x="0" y="6537960"/>
            <a:ext cx="12191695" cy="18288"/>
          </a:xfrm>
          <a:prstGeom prst="rect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583680"/>
            <a:ext cx="3657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smallgameagent · LLM/VLM + 规则驱动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583680"/>
            <a:ext cx="914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21/28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A237E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12471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000" b="1">
                <a:solidFill>
                  <a:srgbClr val="F3F6F9"/>
                </a:solidFill>
                <a:latin typeface="Microsoft YaHei"/>
              </a:defRPr>
            </a:pPr>
            <a:r>
              <a:t>Qwen L2 真实云端：SSD_00461P01（29 步）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143000"/>
          <a:ext cx="11247120" cy="5120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623560"/>
                <a:gridCol w="5623560"/>
              </a:tblGrid>
              <a:tr h="853440"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3F6F9"/>
                          </a:solidFill>
                          <a:latin typeface="Microsoft YaHei"/>
                        </a:defRPr>
                      </a:pPr>
                      <a:r>
                        <a:t>指标</a:t>
                      </a:r>
                    </a:p>
                  </a:txBody>
                  <a:tcPr>
                    <a:solidFill>
                      <a:srgbClr val="1A237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3F6F9"/>
                          </a:solidFill>
                          <a:latin typeface="Microsoft YaHei"/>
                        </a:defRPr>
                      </a:pPr>
                      <a:r>
                        <a:t>数值</a:t>
                      </a:r>
                    </a:p>
                  </a:txBody>
                  <a:tcPr>
                    <a:solidFill>
                      <a:srgbClr val="1A237E"/>
                    </a:solidFill>
                  </a:tcPr>
                </a:tc>
              </a:tr>
              <a:tr h="853440"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type_match</a:t>
                      </a:r>
                    </a:p>
                  </a:txBody>
                  <a:tcPr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10/29</a:t>
                      </a:r>
                    </a:p>
                  </a:txBody>
                  <a:tcPr>
                    <a:solidFill>
                      <a:srgbClr val="F3F6F9"/>
                    </a:solidFill>
                  </a:tcPr>
                </a:tc>
              </a:tr>
              <a:tr h="853440"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action_match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7/29</a:t>
                      </a:r>
                    </a:p>
                  </a:txBody>
                  <a:tcPr/>
                </a:tc>
              </a:tr>
              <a:tr h="853440"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composite</a:t>
                      </a:r>
                    </a:p>
                  </a:txBody>
                  <a:tcPr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0.246</a:t>
                      </a:r>
                    </a:p>
                  </a:txBody>
                  <a:tcPr>
                    <a:solidFill>
                      <a:srgbClr val="F3F6F9"/>
                    </a:solidFill>
                  </a:tcPr>
                </a:tc>
              </a:tr>
              <a:tr h="853440"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mean_latency_ms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3728.6</a:t>
                      </a:r>
                    </a:p>
                  </a:txBody>
                  <a:tcPr/>
                </a:tc>
              </a:tr>
              <a:tr h="853440"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rule_update_count</a:t>
                      </a:r>
                    </a:p>
                  </a:txBody>
                  <a:tcPr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4</a:t>
                      </a:r>
                    </a:p>
                  </a:txBody>
                  <a:tcPr>
                    <a:solidFill>
                      <a:srgbClr val="F3F6F9"/>
                    </a:solidFill>
                  </a:tcPr>
                </a:tc>
              </a:tr>
            </a:tbl>
          </a:graphicData>
        </a:graphic>
      </p:graphicFrame>
      <p:sp>
        <p:nvSpPr>
          <p:cNvPr id="5" name="Rectangle 4"/>
          <p:cNvSpPr/>
          <p:nvPr/>
        </p:nvSpPr>
        <p:spPr>
          <a:xfrm>
            <a:off x="0" y="6537960"/>
            <a:ext cx="12191695" cy="18288"/>
          </a:xfrm>
          <a:prstGeom prst="rect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583680"/>
            <a:ext cx="3657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smallgameagent · LLM/VLM + 规则驱动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583680"/>
            <a:ext cx="914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22/28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A237E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12471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000" b="1">
                <a:solidFill>
                  <a:srgbClr val="F3F6F9"/>
                </a:solidFill>
                <a:latin typeface="Microsoft YaHei"/>
              </a:defRPr>
            </a:pPr>
            <a:r>
              <a:t>关键发现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34440"/>
            <a:ext cx="110642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  <a:defRPr sz="1800" b="0">
                <a:solidFill>
                  <a:srgbClr val="1E2933"/>
                </a:solidFill>
                <a:latin typeface="Microsoft YaHei"/>
              </a:defRPr>
            </a:pPr>
            <a:r>
              <a:t>离线回放不用开浏览器，就能快速验证 decider 改动，5 款游戏 rule/hierarchical 跑通</a:t>
            </a:r>
          </a:p>
          <a:p>
            <a:pPr algn="l">
              <a:spcAft>
                <a:spcPts val="1000"/>
              </a:spcAft>
              <a:defRPr sz="1800" b="0">
                <a:solidFill>
                  <a:srgbClr val="1E2933"/>
                </a:solidFill>
                <a:latin typeface="Microsoft YaHei"/>
              </a:defRPr>
            </a:pPr>
            <a:r>
              <a:t>00332/00382 等 tap-only 游戏与 rule engine 策略一致，joystick 游戏仍有优化空间</a:t>
            </a:r>
          </a:p>
          <a:p>
            <a:pPr algn="l">
              <a:spcAft>
                <a:spcPts val="1000"/>
              </a:spcAft>
              <a:defRPr sz="1800" b="0">
                <a:solidFill>
                  <a:srgbClr val="1E2933"/>
                </a:solidFill>
                <a:latin typeface="Microsoft YaHei"/>
              </a:defRPr>
            </a:pPr>
            <a:r>
              <a:t>Qwen API 成功触发 L2 规划与 rule update，但单步延迟约 3.7s，在线需异步化</a:t>
            </a:r>
          </a:p>
          <a:p>
            <a:pPr algn="l">
              <a:spcAft>
                <a:spcPts val="1000"/>
              </a:spcAft>
              <a:defRPr sz="1800" b="0">
                <a:solidFill>
                  <a:srgbClr val="1E2933"/>
                </a:solidFill>
                <a:latin typeface="Microsoft YaHei"/>
              </a:defRPr>
            </a:pPr>
            <a:r>
              <a:t>memory / multi-bus 模式可接入同一离线回放框架，下一步批量对比</a:t>
            </a:r>
          </a:p>
          <a:p>
            <a:pPr algn="l">
              <a:spcAft>
                <a:spcPts val="1000"/>
              </a:spcAft>
              <a:defRPr sz="1800" b="0">
                <a:solidFill>
                  <a:srgbClr val="1E2933"/>
                </a:solidFill>
                <a:latin typeface="Microsoft YaHei"/>
              </a:defRPr>
            </a:pPr>
            <a:r>
              <a:t>已采集 SSD_00461P01 的 VLM 训练样本，可直接接入 QLoRA 微调管线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37960"/>
            <a:ext cx="12191695" cy="18288"/>
          </a:xfrm>
          <a:prstGeom prst="rect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583680"/>
            <a:ext cx="3657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smallgameagent · LLM/VLM + 规则驱动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583680"/>
            <a:ext cx="914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23/28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237E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468880"/>
            <a:ext cx="1106424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4400" b="1">
                <a:solidFill>
                  <a:srgbClr val="F3F6F9"/>
                </a:solidFill>
                <a:latin typeface="Microsoft YaHei"/>
              </a:defRPr>
            </a:pPr>
            <a:r>
              <a:t>08 训练数据管线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3657600"/>
            <a:ext cx="1828800" cy="73152"/>
          </a:xfrm>
          <a:prstGeom prst="rect">
            <a:avLst/>
          </a:prstGeom>
          <a:solidFill>
            <a:srgbClr val="FF6B35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537960"/>
            <a:ext cx="12191695" cy="18288"/>
          </a:xfrm>
          <a:prstGeom prst="rect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583680"/>
            <a:ext cx="3657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smallgameagent · LLM/VLM + 规则驱动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583680"/>
            <a:ext cx="914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24/28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A237E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12471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000" b="1">
                <a:solidFill>
                  <a:srgbClr val="F3F6F9"/>
                </a:solidFill>
                <a:latin typeface="Microsoft YaHei"/>
              </a:defRPr>
            </a:pPr>
            <a:r>
              <a:t>跑过的轨迹 = 可复用的训练数据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34440"/>
            <a:ext cx="110642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  <a:defRPr sz="1800" b="0">
                <a:solidFill>
                  <a:srgbClr val="1E2933"/>
                </a:solidFill>
                <a:latin typeface="Microsoft YaHei"/>
              </a:defRPr>
            </a:pPr>
            <a:r>
              <a:t>batch_runner 每步记录 state / action / keyNumbers / reason</a:t>
            </a:r>
          </a:p>
          <a:p>
            <a:pPr algn="l">
              <a:spcAft>
                <a:spcPts val="1000"/>
              </a:spcAft>
              <a:defRPr sz="1800" b="0">
                <a:solidFill>
                  <a:srgbClr val="1E2933"/>
                </a:solidFill>
                <a:latin typeface="Microsoft YaHei"/>
              </a:defRPr>
            </a:pPr>
            <a:r>
              <a:t>processed_runs_converter 从 22 个游戏的 processed-runs 生成 7 任务样本</a:t>
            </a:r>
          </a:p>
          <a:p>
            <a:pPr algn="l">
              <a:spcAft>
                <a:spcPts val="1000"/>
              </a:spcAft>
              <a:defRPr sz="1800" b="0">
                <a:solidFill>
                  <a:srgbClr val="1E2933"/>
                </a:solidFill>
                <a:latin typeface="Microsoft YaHei"/>
              </a:defRPr>
            </a:pPr>
            <a:r>
              <a:t>当前数据集：15,083 条样本，覆盖 next_probe_action / information_gain_judgment 等任务</a:t>
            </a:r>
          </a:p>
          <a:p>
            <a:pPr algn="l">
              <a:spcAft>
                <a:spcPts val="1000"/>
              </a:spcAft>
              <a:defRPr sz="1800" b="0">
                <a:solidFill>
                  <a:srgbClr val="1E2933"/>
                </a:solidFill>
                <a:latin typeface="Microsoft YaHei"/>
              </a:defRPr>
            </a:pPr>
            <a:r>
              <a:t>可直接喂给 Qwen3.5-4B/9B 与 Gemma-4-E4B 的 QLoRA 微调脚本（在 5090 服务器执行）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37960"/>
            <a:ext cx="12191695" cy="18288"/>
          </a:xfrm>
          <a:prstGeom prst="rect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583680"/>
            <a:ext cx="3657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smallgameagent · LLM/VLM + 规则驱动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583680"/>
            <a:ext cx="914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25/28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237E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468880"/>
            <a:ext cx="1106424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4400" b="1">
                <a:solidFill>
                  <a:srgbClr val="F3F6F9"/>
                </a:solidFill>
                <a:latin typeface="Microsoft YaHei"/>
              </a:defRPr>
            </a:pPr>
            <a:r>
              <a:t>09 下一步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3657600"/>
            <a:ext cx="1828800" cy="73152"/>
          </a:xfrm>
          <a:prstGeom prst="rect">
            <a:avLst/>
          </a:prstGeom>
          <a:solidFill>
            <a:srgbClr val="FF6B35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537960"/>
            <a:ext cx="12191695" cy="18288"/>
          </a:xfrm>
          <a:prstGeom prst="rect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583680"/>
            <a:ext cx="3657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smallgameagent · LLM/VLM + 规则驱动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583680"/>
            <a:ext cx="914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26/28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A237E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12471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000" b="1">
                <a:solidFill>
                  <a:srgbClr val="F3F6F9"/>
                </a:solidFill>
                <a:latin typeface="Microsoft YaHei"/>
              </a:defRPr>
            </a:pPr>
            <a:r>
              <a:t>接下来要攻的几件事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34440"/>
            <a:ext cx="110642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  <a:defRPr sz="1800" b="0">
                <a:solidFill>
                  <a:srgbClr val="1E2933"/>
                </a:solidFill>
                <a:latin typeface="Microsoft YaHei"/>
              </a:defRPr>
            </a:pPr>
            <a:r>
              <a:t>在真实云端 API（kimi / qwen / mimo）上触发 code-file 更新，验证真实 L2 的调参决策质量</a:t>
            </a:r>
          </a:p>
          <a:p>
            <a:pPr algn="l">
              <a:spcAft>
                <a:spcPts val="1000"/>
              </a:spcAft>
              <a:defRPr sz="1800" b="0">
                <a:solidFill>
                  <a:srgbClr val="1E2933"/>
                </a:solidFill>
                <a:latin typeface="Microsoft YaHei"/>
              </a:defRPr>
            </a:pPr>
            <a:r>
              <a:t>把 runtime_rules.json 的 schema 写进 L2 prompt，约束可改字段与取值范围</a:t>
            </a:r>
          </a:p>
          <a:p>
            <a:pPr algn="l">
              <a:spcAft>
                <a:spcPts val="1000"/>
              </a:spcAft>
              <a:defRPr sz="1800" b="0">
                <a:solidFill>
                  <a:srgbClr val="1E2933"/>
                </a:solidFill>
                <a:latin typeface="Microsoft YaHei"/>
              </a:defRPr>
            </a:pPr>
            <a:r>
              <a:t>尝试 L2 规则更新的 phase_contract 与 memory_entry 模式，完善上层对下层的更新手段</a:t>
            </a:r>
          </a:p>
          <a:p>
            <a:pPr algn="l">
              <a:spcAft>
                <a:spcPts val="1000"/>
              </a:spcAft>
              <a:defRPr sz="1800" b="0">
                <a:solidFill>
                  <a:srgbClr val="1E2933"/>
                </a:solidFill>
                <a:latin typeface="Microsoft YaHei"/>
              </a:defRPr>
            </a:pPr>
            <a:r>
              <a:t>让本地 VLM 常驻，验证 L1 战术修正对 joystick 游戏的收益</a:t>
            </a:r>
          </a:p>
          <a:p>
            <a:pPr algn="l">
              <a:spcAft>
                <a:spcPts val="1000"/>
              </a:spcAft>
              <a:defRPr sz="1800" b="0">
                <a:solidFill>
                  <a:srgbClr val="1E2933"/>
                </a:solidFill>
                <a:latin typeface="Microsoft YaHei"/>
              </a:defRPr>
            </a:pPr>
            <a:r>
              <a:t>在 5090 服务器上跑 QLoRA 微调，把本地 VLM 变成专用画面理解器</a:t>
            </a:r>
          </a:p>
          <a:p>
            <a:pPr algn="l">
              <a:spcAft>
                <a:spcPts val="1000"/>
              </a:spcAft>
              <a:defRPr sz="1800" b="0">
                <a:solidFill>
                  <a:srgbClr val="1E2933"/>
                </a:solidFill>
                <a:latin typeface="Microsoft YaHei"/>
              </a:defRPr>
            </a:pPr>
            <a:r>
              <a:t>把离线回放集成到 CI：每次规则改动自动跑 5 游戏回归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37960"/>
            <a:ext cx="12191695" cy="18288"/>
          </a:xfrm>
          <a:prstGeom prst="rect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583680"/>
            <a:ext cx="3657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smallgameagent · LLM/VLM + 规则驱动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583680"/>
            <a:ext cx="914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27/28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237E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651760"/>
            <a:ext cx="11247120" cy="1280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800" b="1">
                <a:solidFill>
                  <a:srgbClr val="F3F6F9"/>
                </a:solidFill>
                <a:latin typeface="Microsoft YaHei"/>
              </a:defRPr>
            </a:pPr>
            <a:r>
              <a:t>谢谢，欢迎讨论</a:t>
            </a:r>
          </a:p>
        </p:txBody>
      </p:sp>
      <p:sp>
        <p:nvSpPr>
          <p:cNvPr id="4" name="Rectangle 3"/>
          <p:cNvSpPr/>
          <p:nvPr/>
        </p:nvSpPr>
        <p:spPr>
          <a:xfrm>
            <a:off x="5184648" y="3931920"/>
            <a:ext cx="1828800" cy="73152"/>
          </a:xfrm>
          <a:prstGeom prst="rect">
            <a:avLst/>
          </a:prstGeom>
          <a:solidFill>
            <a:srgbClr val="FF6B35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537960"/>
            <a:ext cx="12191695" cy="18288"/>
          </a:xfrm>
          <a:prstGeom prst="rect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583680"/>
            <a:ext cx="3657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smallgameagent · LLM/VLM + 规则驱动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583680"/>
            <a:ext cx="914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28/28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